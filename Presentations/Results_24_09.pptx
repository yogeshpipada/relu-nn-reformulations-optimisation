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92516-60D0-E8A2-B2A3-13E15EABF2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04B759-3505-9EAB-D8D9-E7D868128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43940-0C0B-6F56-C9E7-8EBDA2601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23F9-EEAD-47C2-8A42-736DF13F54DD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48144-E3B0-18DC-70E2-CB5437E5D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70459-CBEF-3B3B-6844-119264FC1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0FE-4DD2-4B29-8302-3C992E5CD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3041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285E9-0BE0-2EF3-BB83-12D82E92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D0194-A8D3-B232-7E7C-ECF095C29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957E6-6782-297B-C1D4-1A68E93F9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23F9-EEAD-47C2-8A42-736DF13F54DD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3B48C-E7B0-6CA4-47C5-3580AB0D0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B9B50-6ECA-EFDC-660B-0BDE10065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0FE-4DD2-4B29-8302-3C992E5CD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7283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60DC0-870B-29E3-2022-7F075CC1E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B525A-F850-636B-D1D7-D48D1FE20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5542A-2F49-4284-838E-4120A5332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23F9-EEAD-47C2-8A42-736DF13F54DD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AA2C8-F3F0-7775-5E68-12C6F927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EFAF6-0EAD-491D-17B4-ED255E30B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0FE-4DD2-4B29-8302-3C992E5CD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8277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B0FBE-224C-75A3-8F5F-80E16F114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CE053-0E02-0CE2-58AC-8B83BBEB9F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C841C-2ECD-99A2-987B-AD4355E65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6F17B-6613-BC41-71E1-4A7E55DE6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23F9-EEAD-47C2-8A42-736DF13F54DD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1D92C-E6DF-4EE5-2AB8-3B830BB69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B063-BA3C-B7F6-AC99-DD58AA45A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0FE-4DD2-4B29-8302-3C992E5CD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7717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EB0F2-D523-2A9E-B243-689AA9EB7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A1612-0183-8342-F0F3-268E9F05C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B4AA1E-82B5-4D0A-98F2-E3E2019C0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73E126-0186-0E4A-AB8C-0FB1A6E808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FC603C-49C0-4C47-EFD1-FF2484E4FC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915B1B-B893-E47C-E9AA-5F2F17FCE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23F9-EEAD-47C2-8A42-736DF13F54DD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A4B17-4094-C569-E099-29EC9DB6A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B932EE-FF82-8BC7-6220-8477D319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0FE-4DD2-4B29-8302-3C992E5CD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1570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5002F-40A5-BD52-E4C3-6C983DA58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52E8A1-61D8-D7C4-34D4-A127812D8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23F9-EEAD-47C2-8A42-736DF13F54DD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AC997-22AD-04DD-15AB-A56AB4836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BEE4BD-3563-DF4A-DA77-33DDA816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0FE-4DD2-4B29-8302-3C992E5CD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2818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0FC17-B48E-C92E-0452-AE3012046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23F9-EEAD-47C2-8A42-736DF13F54DD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4653C3-267C-BF23-EFFE-E0453EF92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028F6-B354-69B2-2FA8-8BDE43CA4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0FE-4DD2-4B29-8302-3C992E5CD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8348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D44E1-1F90-8217-EDD0-E7B921256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069FA-696E-0871-A3BA-0DC146006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C5AE3-479C-369C-F06D-498AF436B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A4CED-4CC3-11ED-0923-FE9593BF3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23F9-EEAD-47C2-8A42-736DF13F54DD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8DEFE-4B38-3036-D9D5-1EDBEE76E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5E954-8AD1-9700-4874-11CD98EFE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0FE-4DD2-4B29-8302-3C992E5CD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634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FD21E-EA06-A2F3-879A-107C0C1A9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D8B6D5-AC8A-5D92-51CD-125B421A76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48FA80-C6D9-CE08-EB7F-102C463D3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9B949-89B3-443B-FA77-BABE5E6B0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23F9-EEAD-47C2-8A42-736DF13F54DD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89294-2BE6-32C8-5AD9-BC91D6683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72F33-08DC-C2D7-78F4-13F8035A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0FE-4DD2-4B29-8302-3C992E5CD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7425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CE056-4C80-7C09-9C33-18F2282D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46C96-45FA-DD32-669B-F65F4D44E3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13FD0-EB11-5261-F612-BE81C0EC2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23F9-EEAD-47C2-8A42-736DF13F54DD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E8EC8-0E21-AD2F-5340-DCC30A407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F3354-512E-D389-6FE7-23C42770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0FE-4DD2-4B29-8302-3C992E5CD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040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97103B-D33F-4F0C-39A7-70E7CBD942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63616-060C-9EBC-3FE2-AD7045838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EC7C8-4918-89CD-9061-4C0C1E260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23F9-EEAD-47C2-8A42-736DF13F54DD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8DE84-8D24-35BE-F01F-629C795C8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156C3-EFC5-F309-B847-5510F73B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0FE-4DD2-4B29-8302-3C992E5CD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0951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F38DE9-B734-2311-6172-73C9A815C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CDCC2-ACE5-4923-A5B0-CA76AC677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BCF04-BA3F-AF55-E60B-1E870EF999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F23F9-EEAD-47C2-8A42-736DF13F54DD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02CC-EDB5-F53A-C3F9-DE118EB62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FA3CF-CD23-ED46-372E-32EFA284E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BC0FE-4DD2-4B29-8302-3C992E5CD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5367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5DEB9-1200-E8FE-2E61-C2F736D5B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Status update 24/0924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BCE263-DC42-E19B-0A0B-0E4A19F140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1818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FDFB5-90C5-D594-2F0A-8E803DB0B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Tasks planned for 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F0B5E-9989-6C53-D9FD-A47240D0C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Identify price scenarios</a:t>
            </a:r>
          </a:p>
          <a:p>
            <a:r>
              <a:rPr lang="en-AU" dirty="0"/>
              <a:t>Run PWL, </a:t>
            </a:r>
            <a:r>
              <a:rPr lang="en-AU" dirty="0" err="1"/>
              <a:t>gurobi_ml</a:t>
            </a:r>
            <a:r>
              <a:rPr lang="en-AU" dirty="0"/>
              <a:t> and proposed models with the price scenarios</a:t>
            </a:r>
          </a:p>
          <a:p>
            <a:r>
              <a:rPr lang="en-AU" dirty="0"/>
              <a:t>Verify PCAR and PCTAR models</a:t>
            </a:r>
          </a:p>
          <a:p>
            <a:r>
              <a:rPr lang="en-AU" dirty="0"/>
              <a:t>Penalty sensitivity analysis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8228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EA18-D781-A5E4-914A-543F86570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Price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277AA-1F06-7825-32C8-EF111436C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6215"/>
            <a:ext cx="4715391" cy="3066543"/>
          </a:xfrm>
        </p:spPr>
        <p:txBody>
          <a:bodyPr>
            <a:noAutofit/>
          </a:bodyPr>
          <a:lstStyle/>
          <a:p>
            <a:r>
              <a:rPr lang="en-AU" sz="2400" dirty="0"/>
              <a:t>Price ranges</a:t>
            </a:r>
          </a:p>
          <a:p>
            <a:pPr lvl="1"/>
            <a:r>
              <a:rPr lang="en-AU" sz="2000" dirty="0"/>
              <a:t>Low prices – 0-10 DKK/MWh</a:t>
            </a:r>
          </a:p>
          <a:p>
            <a:pPr lvl="1"/>
            <a:r>
              <a:rPr lang="en-AU" sz="2000" dirty="0"/>
              <a:t>Med prices – 25-100 DKK/MWh</a:t>
            </a:r>
          </a:p>
          <a:p>
            <a:pPr lvl="1"/>
            <a:r>
              <a:rPr lang="en-AU" sz="2000" dirty="0"/>
              <a:t>High prices 150+ DKK/MWh </a:t>
            </a:r>
          </a:p>
          <a:p>
            <a:r>
              <a:rPr lang="en-AU" sz="2400" dirty="0"/>
              <a:t>Selected 10 price scenarios each</a:t>
            </a:r>
          </a:p>
          <a:p>
            <a:r>
              <a:rPr lang="en-AU" sz="2400" dirty="0"/>
              <a:t>Low price scenario is most likely case</a:t>
            </a:r>
          </a:p>
          <a:p>
            <a:endParaRPr lang="en-AU" sz="2400" dirty="0"/>
          </a:p>
        </p:txBody>
      </p:sp>
      <p:pic>
        <p:nvPicPr>
          <p:cNvPr id="9" name="Picture 8" descr="A group of graphs showing different sizes and numbers&#10;&#10;Description automatically generated with medium confidence">
            <a:extLst>
              <a:ext uri="{FF2B5EF4-FFF2-40B4-BE49-F238E27FC236}">
                <a16:creationId xmlns:a16="http://schemas.microsoft.com/office/drawing/2014/main" id="{6DFB2228-AAC0-7655-4CA4-BB63029AB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865" y="1546215"/>
            <a:ext cx="5760000" cy="3840000"/>
          </a:xfrm>
          <a:prstGeom prst="rect">
            <a:avLst/>
          </a:prstGeom>
        </p:spPr>
      </p:pic>
      <p:pic>
        <p:nvPicPr>
          <p:cNvPr id="11" name="Picture 10" descr="A graph with a line graph and text&#10;&#10;Description automatically generated">
            <a:extLst>
              <a:ext uri="{FF2B5EF4-FFF2-40B4-BE49-F238E27FC236}">
                <a16:creationId xmlns:a16="http://schemas.microsoft.com/office/drawing/2014/main" id="{21B62D8D-3F5B-9F77-EBEC-E336A7A6FB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886" y="4612758"/>
            <a:ext cx="3600000" cy="171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57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1340-751C-AD2C-2E88-4AE7F4BF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Run PWL, </a:t>
            </a:r>
            <a:r>
              <a:rPr lang="en-AU" dirty="0" err="1"/>
              <a:t>gurobi_ml</a:t>
            </a:r>
            <a:r>
              <a:rPr lang="en-AU" dirty="0"/>
              <a:t>, proposed models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835B80-B832-1810-1817-54B7BF291C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7358027"/>
              </p:ext>
            </p:extLst>
          </p:nvPr>
        </p:nvGraphicFramePr>
        <p:xfrm>
          <a:off x="838200" y="1825625"/>
          <a:ext cx="10515606" cy="425196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752601">
                  <a:extLst>
                    <a:ext uri="{9D8B030D-6E8A-4147-A177-3AD203B41FA5}">
                      <a16:colId xmlns:a16="http://schemas.microsoft.com/office/drawing/2014/main" val="69330560"/>
                    </a:ext>
                  </a:extLst>
                </a:gridCol>
                <a:gridCol w="1752601">
                  <a:extLst>
                    <a:ext uri="{9D8B030D-6E8A-4147-A177-3AD203B41FA5}">
                      <a16:colId xmlns:a16="http://schemas.microsoft.com/office/drawing/2014/main" val="3956366447"/>
                    </a:ext>
                  </a:extLst>
                </a:gridCol>
                <a:gridCol w="1752601">
                  <a:extLst>
                    <a:ext uri="{9D8B030D-6E8A-4147-A177-3AD203B41FA5}">
                      <a16:colId xmlns:a16="http://schemas.microsoft.com/office/drawing/2014/main" val="2700307618"/>
                    </a:ext>
                  </a:extLst>
                </a:gridCol>
                <a:gridCol w="1752601">
                  <a:extLst>
                    <a:ext uri="{9D8B030D-6E8A-4147-A177-3AD203B41FA5}">
                      <a16:colId xmlns:a16="http://schemas.microsoft.com/office/drawing/2014/main" val="2824788660"/>
                    </a:ext>
                  </a:extLst>
                </a:gridCol>
                <a:gridCol w="1752601">
                  <a:extLst>
                    <a:ext uri="{9D8B030D-6E8A-4147-A177-3AD203B41FA5}">
                      <a16:colId xmlns:a16="http://schemas.microsoft.com/office/drawing/2014/main" val="392713690"/>
                    </a:ext>
                  </a:extLst>
                </a:gridCol>
                <a:gridCol w="1752601">
                  <a:extLst>
                    <a:ext uri="{9D8B030D-6E8A-4147-A177-3AD203B41FA5}">
                      <a16:colId xmlns:a16="http://schemas.microsoft.com/office/drawing/2014/main" val="3143782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Price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Average net revenue DKK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Average run times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Average CPU times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No. of suboptimal solutions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56861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PWL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50151.951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14.670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108.987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37895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err="1"/>
                        <a:t>Gurobi</a:t>
                      </a:r>
                      <a:r>
                        <a:rPr lang="en-AU" dirty="0"/>
                        <a:t>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50253.372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3.134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15.611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7432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Proposed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50669.906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9413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PWL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3900.817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884.304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8762.400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6907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err="1"/>
                        <a:t>Gurobi</a:t>
                      </a:r>
                      <a:r>
                        <a:rPr lang="en-AU" dirty="0"/>
                        <a:t>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3678.369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7.843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44.914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0643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Proposed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3894.101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2841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PWL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239.108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2862.901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26112.952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6496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err="1"/>
                        <a:t>Gurobi</a:t>
                      </a:r>
                      <a:r>
                        <a:rPr lang="en-AU" dirty="0"/>
                        <a:t>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170.981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15.474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40261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Proposed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226.277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927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2564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8A85-467F-90A1-084A-84E54B4D7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Histogram of runtimes</a:t>
            </a:r>
          </a:p>
        </p:txBody>
      </p:sp>
      <p:pic>
        <p:nvPicPr>
          <p:cNvPr id="9" name="Content Placeholder 8" descr="A group of green bars&#10;&#10;Description automatically generated">
            <a:extLst>
              <a:ext uri="{FF2B5EF4-FFF2-40B4-BE49-F238E27FC236}">
                <a16:creationId xmlns:a16="http://schemas.microsoft.com/office/drawing/2014/main" id="{6D51D2DA-4CC3-D176-239B-E0944ACAAE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46" y="2243138"/>
            <a:ext cx="5400000" cy="2700000"/>
          </a:xfrm>
        </p:spPr>
      </p:pic>
      <p:pic>
        <p:nvPicPr>
          <p:cNvPr id="10" name="Content Placeholder 6" descr="A group of green bars&#10;&#10;Description automatically generated">
            <a:extLst>
              <a:ext uri="{FF2B5EF4-FFF2-40B4-BE49-F238E27FC236}">
                <a16:creationId xmlns:a16="http://schemas.microsoft.com/office/drawing/2014/main" id="{0F8F83C8-25AB-AA3B-BC31-7FC9ED8828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580" y="2243138"/>
            <a:ext cx="5400000" cy="2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09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8A85-467F-90A1-084A-84E54B4D7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Verify PCAR and PCTAR + sensitivity analysis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007D0F1-DD8B-7D9D-7A34-19FAEE91F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511557"/>
          </a:xfrm>
        </p:spPr>
        <p:txBody>
          <a:bodyPr>
            <a:normAutofit/>
          </a:bodyPr>
          <a:lstStyle/>
          <a:p>
            <a:r>
              <a:rPr lang="en-AU" sz="2400" dirty="0"/>
              <a:t>Verification done by removing market constraints, fixing input values</a:t>
            </a:r>
          </a:p>
          <a:p>
            <a:r>
              <a:rPr lang="en-AU" sz="2400" dirty="0"/>
              <a:t>Objective value are only the penalty functions</a:t>
            </a:r>
          </a:p>
          <a:p>
            <a:r>
              <a:rPr lang="en-AU" sz="2400" dirty="0"/>
              <a:t>Expected outputs – 4.051, 2.269</a:t>
            </a:r>
          </a:p>
          <a:p>
            <a:pPr marL="0" indent="0">
              <a:buNone/>
            </a:pPr>
            <a:endParaRPr lang="en-AU" sz="24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A88B32A-9446-EC8A-D594-FCB727C017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993579"/>
              </p:ext>
            </p:extLst>
          </p:nvPr>
        </p:nvGraphicFramePr>
        <p:xfrm>
          <a:off x="2512291" y="3525964"/>
          <a:ext cx="8128002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15826833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886610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538957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3491859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372658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75973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600" dirty="0"/>
                        <a:t>Penalty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153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600" dirty="0"/>
                        <a:t>PCTAR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1.523, 1.132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1.523, 1.132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1.523, 1.132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1.523, 1.132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1.523, 1.132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062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600" dirty="0"/>
                        <a:t>PCAR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dirty="0"/>
                        <a:t>1.523, 1.132</a:t>
                      </a:r>
                    </a:p>
                    <a:p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dirty="0"/>
                        <a:t>1.523, 1.132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dirty="0"/>
                        <a:t>1.523, 1.132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dirty="0"/>
                        <a:t>1.523, 1.132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dirty="0"/>
                        <a:t>1.523, 1.132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72945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37FF0CF-2043-8E40-6C4B-05652A6CB7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2803097"/>
                  </p:ext>
                </p:extLst>
              </p:nvPr>
            </p:nvGraphicFramePr>
            <p:xfrm>
              <a:off x="2512291" y="5388493"/>
              <a:ext cx="8128002" cy="132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215826833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0886610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45389572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13491859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23726589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7759738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Penalty 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16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lang="en-AU" sz="1600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1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AU" sz="1600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1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AU" sz="16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AU" sz="1600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1600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e>
                                  <m:sup>
                                    <m:r>
                                      <a:rPr lang="en-AU" sz="16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AU" sz="1600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sSup>
                                  <m:sSupPr>
                                    <m:ctrlPr>
                                      <a:rPr lang="en-AU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16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sup>
                                    <m:r>
                                      <a:rPr lang="en-AU" sz="16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AU" sz="1600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61532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PCTAR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0.098, 0.098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1.006, 0.534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1.852, 1.417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0628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PCAR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/>
                            <a:t>0.098, 0.098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1.006, 0.534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1.852, 1.417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17294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37FF0CF-2043-8E40-6C4B-05652A6CB7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2803097"/>
                  </p:ext>
                </p:extLst>
              </p:nvPr>
            </p:nvGraphicFramePr>
            <p:xfrm>
              <a:off x="2512291" y="5388493"/>
              <a:ext cx="8128002" cy="132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215826833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0886610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45389572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13491859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23726589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775973823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Penalty 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083" r="-400448" b="-134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01" t="-2083" r="-302252" b="-134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01" t="-2083" r="-202252" b="-134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9103" t="-2083" r="-101345" b="-134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1351" t="-2083" r="-1802" b="-1343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61532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PCTAR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0.098, 0.098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1.006, 0.534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1.852, 1.417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0628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PCAR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/>
                            <a:t>0.098, 0.098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1.006, 0.534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1.852, 1.417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17294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B36F036-91FB-646C-9886-5F06650A8F0F}"/>
              </a:ext>
            </a:extLst>
          </p:cNvPr>
          <p:cNvSpPr txBox="1"/>
          <p:nvPr/>
        </p:nvSpPr>
        <p:spPr>
          <a:xfrm>
            <a:off x="628071" y="3972203"/>
            <a:ext cx="1847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b="1" dirty="0"/>
              <a:t>Constant penalty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AF9275-41B4-5DCF-05D4-83198F30349D}"/>
                  </a:ext>
                </a:extLst>
              </p:cNvPr>
              <p:cNvSpPr txBox="1"/>
              <p:nvPr/>
            </p:nvSpPr>
            <p:spPr>
              <a:xfrm>
                <a:off x="628071" y="5479208"/>
                <a:ext cx="1847272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1600" b="1" dirty="0"/>
                  <a:t>Hidden layer varying penalty values, </a:t>
                </a:r>
                <a14:m>
                  <m:oMath xmlns:m="http://schemas.openxmlformats.org/officeDocument/2006/math">
                    <m:r>
                      <a:rPr lang="en-AU" sz="1600" b="1" i="1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en-AU" sz="1600" b="1" dirty="0"/>
                  <a:t> is the layer number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AF9275-41B4-5DCF-05D4-83198F303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71" y="5479208"/>
                <a:ext cx="1847272" cy="1077218"/>
              </a:xfrm>
              <a:prstGeom prst="rect">
                <a:avLst/>
              </a:prstGeom>
              <a:blipFill>
                <a:blip r:embed="rId3"/>
                <a:stretch>
                  <a:fillRect t="-1695" b="-62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4497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8A85-467F-90A1-084A-84E54B4D7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Verify PCAR and PCTAR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007D0F1-DD8B-7D9D-7A34-19FAEE91F5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197614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AU" sz="2400" dirty="0"/>
                  <a:t>Verification done by removing market constraints, fixing input values</a:t>
                </a:r>
              </a:p>
              <a:p>
                <a:r>
                  <a:rPr lang="en-AU" sz="2400" dirty="0"/>
                  <a:t>Objective value penalty function +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AU" sz="2400" dirty="0"/>
              </a:p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∈[−1000, +∞]</m:t>
                    </m:r>
                  </m:oMath>
                </a14:m>
                <a:endParaRPr lang="en-AU" sz="2400" dirty="0"/>
              </a:p>
              <a:p>
                <a:r>
                  <a:rPr lang="en-AU" sz="2400" dirty="0"/>
                  <a:t>Penalty value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endParaRPr lang="en-AU" sz="2400" dirty="0"/>
              </a:p>
              <a:p>
                <a:r>
                  <a:rPr lang="en-AU" sz="2400" dirty="0"/>
                  <a:t>Expected outputs – 4.051, 2.269</a:t>
                </a:r>
              </a:p>
              <a:p>
                <a:pPr marL="0" indent="0">
                  <a:buNone/>
                </a:pPr>
                <a:endParaRPr lang="en-AU" sz="24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007D0F1-DD8B-7D9D-7A34-19FAEE91F5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1976148"/>
              </a:xfrm>
              <a:blipFill>
                <a:blip r:embed="rId2"/>
                <a:stretch>
                  <a:fillRect l="-696" t="-5846" b="-6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AA88B32A-9446-EC8A-D594-FCB727C017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6442494"/>
                  </p:ext>
                </p:extLst>
              </p:nvPr>
            </p:nvGraphicFramePr>
            <p:xfrm>
              <a:off x="1856508" y="4054792"/>
              <a:ext cx="8128002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215826833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0886610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45389572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13491859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23726589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7759738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1" i="1" dirty="0" smtClean="0"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0.0001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0.001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0.1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61532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PCTAR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-1000, -1000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-1000, -1000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0628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PCAR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/>
                            <a:t>-1000, -1000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/>
                            <a:t>-1000, -1000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17294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AA88B32A-9446-EC8A-D594-FCB727C017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6442494"/>
                  </p:ext>
                </p:extLst>
              </p:nvPr>
            </p:nvGraphicFramePr>
            <p:xfrm>
              <a:off x="1856508" y="4054792"/>
              <a:ext cx="8128002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215826833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0886610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45389572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13491859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23726589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7759738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50" t="-4918" r="-503153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0.0001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0.001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0.1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61532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PCTAR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-1000, -1000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-1000, -1000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0628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PCAR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/>
                            <a:t>4.051, 2.269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/>
                            <a:t>-1000, -1000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/>
                            <a:t>-1000, -1000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17294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18575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364</Words>
  <Application>Microsoft Office PowerPoint</Application>
  <PresentationFormat>Widescreen</PresentationFormat>
  <Paragraphs>135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Status update 24/0924</vt:lpstr>
      <vt:lpstr>Tasks planned for last week</vt:lpstr>
      <vt:lpstr>Price scenarios</vt:lpstr>
      <vt:lpstr>Run PWL, gurobi_ml, proposed models</vt:lpstr>
      <vt:lpstr>Histogram of runtimes</vt:lpstr>
      <vt:lpstr>Verify PCAR and PCTAR + sensitivity analysis</vt:lpstr>
      <vt:lpstr>Verify PCAR and PCTAR</vt:lpstr>
    </vt:vector>
  </TitlesOfParts>
  <Company>The University of Adelaide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Pipada Sunil Kumar</dc:creator>
  <cp:lastModifiedBy>Yogesh Pipada Sunil Kumar</cp:lastModifiedBy>
  <cp:revision>3</cp:revision>
  <dcterms:created xsi:type="dcterms:W3CDTF">2024-09-23T23:40:51Z</dcterms:created>
  <dcterms:modified xsi:type="dcterms:W3CDTF">2024-09-24T06:59:28Z</dcterms:modified>
</cp:coreProperties>
</file>