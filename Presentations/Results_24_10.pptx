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71CF1-DF03-4BA7-BEDE-F1599F516F57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B8297-CBE1-4B30-BB6E-D0C15A8E9D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6976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CB8297-CBE1-4B30-BB6E-D0C15A8E9DF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463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8D31B-E53E-193F-B60B-B08974397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CEC0D-BCF5-8162-2E55-B07E11ACE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4269C-FA4C-E2B2-BEDA-A7747294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3DD05-DB29-40B2-0AA7-4A0F6A0E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5AA92-72A2-03F2-40A7-43BABA2A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54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E867-E34C-E1A3-0689-2AECE3959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C089D-4F8C-341A-6E67-92EADD28C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3572-7B60-551C-13CF-2E8C8609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7B919-1CDA-45C6-3927-3434BB4B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1D90B-B974-2CA3-BBA0-ABDA1DC8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6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6BBB-EC27-A512-CA8B-6E1B1A1F0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EDC3F-63B0-253D-2346-49AA117A1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D6A56-F1AC-D163-E823-0ADD835E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895A9-8BE4-942C-EF90-00F92F097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BA69-ACED-B65A-D273-C3AEE89E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129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FEE4-815E-528C-E318-F3B7D8C16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B3D5C-737A-3716-3581-E1C6C867C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D38DD-1E27-2D3B-2F39-C64FD6C2D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5C135-DF84-0637-FB24-BE1E5FA4D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A3ACF7-364D-32F6-7BD2-D3857787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837E2-07BA-F2EF-D2D0-CE16A5F7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87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1C5C1-A595-6C19-1731-7F4E20D14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02399-E591-6DC4-213E-B43D10519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7D1EF-7413-D1D7-1B2E-63D41747E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24ABC1-8933-1B91-92C0-AF45E3053D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58EB1-F4B1-0F01-0710-D94EBCD99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2EC62D-F461-7201-CB8E-18D8053EC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0FA875-128E-1969-5977-FD8D410F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559910-3186-986E-0BF9-34EAC8C6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67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4729-2C55-4430-EBF3-68C55BFF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43C0A-30FB-5EBC-736F-4D117CAA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8E9F2-2B88-63DF-329E-DD7648471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4D99D-633E-C292-4A4C-10B06FF33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163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A9916D-5AE8-3E50-D37A-4931C506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E1743E-CD8E-C71E-54DA-C7EB1C6E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3CFA6-A0AA-E226-AA48-1B0FD7A7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9009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7264-77D3-0E00-1AA9-F24F5BE6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110DA-0B06-A3B2-321F-C569617F1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6CBF6-29F2-5E97-2270-EC04F4E3C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8D071-97A8-5B9F-F933-587E9267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E6425-A476-07ED-3490-16428CD1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18600-2868-E72F-AD82-33D604E4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429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7BA03-67EE-2EFA-4A46-1E6C3A4D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F7E9E7-3226-8180-196A-BB79987DE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57CE2-91F1-B2FF-093A-994E574EF2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4A6A8-4785-1B65-C43C-E77245609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0DAB5-5122-2D12-145C-8E873869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AC56D-184E-601C-93E0-E2A8F369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892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7FA6-2050-5DF6-FFA9-49D6F9CC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EF45D-D1F6-935C-2710-1C47E49B5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53554-6307-523F-C2B2-A45B5E34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BFFC4-C861-BE56-3443-2A4BC528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346B1-E9B7-AE80-682C-6056EE4A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760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3C7020-4A48-8CC6-631F-4880DE34E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B0836-AE60-3A16-383B-85836AC2E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00472-A1EB-29F1-8F12-2228B2C2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A5324-66C5-364E-B9C3-CA7F7EC1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68EF9-9547-0096-7085-C4A2A0C1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809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E7DC6B-776E-B7CD-1AC2-D794916E5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6FFEE-0DEF-DF58-4AD1-92E055CBA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4D863-8914-1B6F-7488-2D86376A2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58F85-6574-4F4C-AAFE-F891C30CEFF0}" type="datetimeFigureOut">
              <a:rPr lang="en-AU" smtClean="0"/>
              <a:t>24/10/2024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95421-2AA3-8CA7-D69B-49EF234B9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DE30-EA63-96ED-C08F-AEF7CA7B2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EE148-5F99-4ADC-A5B9-F8357FF278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686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8E0BC-D136-B35A-7AA5-DFB4CE614F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Status update 24/10/24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60383-6DE4-03FD-FA24-8773E85119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By Yogesh Pipada </a:t>
            </a:r>
          </a:p>
        </p:txBody>
      </p:sp>
    </p:spTree>
    <p:extLst>
      <p:ext uri="{BB962C8B-B14F-4D97-AF65-F5344CB8AC3E}">
        <p14:creationId xmlns:p14="http://schemas.microsoft.com/office/powerpoint/2010/main" val="375885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57914-137B-B658-0AC7-9C562A60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Width sensitivity analysis (WSA)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4F23A-4D28-7367-ABB5-36FFD7019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Base neural network architecture</a:t>
            </a:r>
          </a:p>
          <a:p>
            <a:pPr lvl="1"/>
            <a:r>
              <a:rPr lang="en-AU" dirty="0"/>
              <a:t>3 hidden </a:t>
            </a:r>
            <a:r>
              <a:rPr lang="en-AU" dirty="0" err="1"/>
              <a:t>ReLu</a:t>
            </a:r>
            <a:r>
              <a:rPr lang="en-AU" dirty="0"/>
              <a:t> layers with neuron = [10, 20, 10]</a:t>
            </a:r>
          </a:p>
          <a:p>
            <a:r>
              <a:rPr lang="en-AU" dirty="0"/>
              <a:t>Width of NN = Number of neurons</a:t>
            </a:r>
          </a:p>
          <a:p>
            <a:r>
              <a:rPr lang="en-AU" dirty="0"/>
              <a:t>For WSA, no. of layers = 3, neurons multiplied by [0.5, 2, 5, 10]</a:t>
            </a:r>
          </a:p>
          <a:p>
            <a:pPr lvl="1"/>
            <a:r>
              <a:rPr lang="en-AU" dirty="0"/>
              <a:t>4 architectures</a:t>
            </a:r>
          </a:p>
          <a:p>
            <a:r>
              <a:rPr lang="en-AU" dirty="0"/>
              <a:t>Trained two set of NNs for each – Unconstrained and constrained</a:t>
            </a:r>
          </a:p>
          <a:p>
            <a:r>
              <a:rPr lang="en-AU" dirty="0"/>
              <a:t>Only 10 low price scenarios considered for optimization</a:t>
            </a:r>
          </a:p>
        </p:txBody>
      </p:sp>
    </p:spTree>
    <p:extLst>
      <p:ext uri="{BB962C8B-B14F-4D97-AF65-F5344CB8AC3E}">
        <p14:creationId xmlns:p14="http://schemas.microsoft.com/office/powerpoint/2010/main" val="2198903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E27A-9AB0-886E-A257-BA1E81F4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0181E3-CB75-CC9C-F3EF-106871426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47933" y="1690688"/>
                <a:ext cx="5375859" cy="4496586"/>
              </a:xfrm>
            </p:spPr>
            <p:txBody>
              <a:bodyPr>
                <a:normAutofit/>
              </a:bodyPr>
              <a:lstStyle/>
              <a:p>
                <a:r>
                  <a:rPr lang="en-AU" sz="1800" dirty="0"/>
                  <a:t>Runtimes get worse with increasing width for all methods</a:t>
                </a:r>
              </a:p>
              <a:p>
                <a:r>
                  <a:rPr lang="en-AU" sz="1800" dirty="0"/>
                  <a:t>Proposed method is the fastest and provides highest profits in all cases </a:t>
                </a:r>
              </a:p>
              <a:p>
                <a:r>
                  <a:rPr lang="en-AU" sz="1800" dirty="0"/>
                  <a:t>For </a:t>
                </a:r>
                <a14:m>
                  <m:oMath xmlns:m="http://schemas.openxmlformats.org/officeDocument/2006/math">
                    <m:r>
                      <a:rPr lang="en-AU" sz="1800" b="0" i="1" smtClean="0">
                        <a:latin typeface="Cambria Math" panose="02040503050406030204" pitchFamily="18" charset="0"/>
                      </a:rPr>
                      <m:t>10×</m:t>
                    </m:r>
                  </m:oMath>
                </a14:m>
                <a:r>
                  <a:rPr lang="en-AU" sz="1800" dirty="0"/>
                  <a:t> neurons, </a:t>
                </a:r>
                <a:r>
                  <a:rPr lang="en-AU" sz="1800" dirty="0" err="1"/>
                  <a:t>Gurobi</a:t>
                </a:r>
                <a:r>
                  <a:rPr lang="en-AU" sz="1800" dirty="0"/>
                  <a:t> ML unable to generate feasible solutions for 8 of 10 price scenarios</a:t>
                </a:r>
              </a:p>
              <a:p>
                <a:r>
                  <a:rPr lang="en-AU" sz="1800" dirty="0"/>
                  <a:t>Objective value behaviours</a:t>
                </a:r>
              </a:p>
              <a:p>
                <a:pPr lvl="1"/>
                <a:r>
                  <a:rPr lang="en-AU" sz="1600" dirty="0"/>
                  <a:t>Increasing width improves objective values in case of PCAR and PCTAR</a:t>
                </a:r>
              </a:p>
              <a:p>
                <a:pPr lvl="1"/>
                <a:r>
                  <a:rPr lang="en-AU" sz="1600" dirty="0" err="1"/>
                  <a:t>Gurobi</a:t>
                </a:r>
                <a:r>
                  <a:rPr lang="en-AU" sz="1600" dirty="0"/>
                  <a:t> ML gets worse; this may be owing to reduced tractability and time limit of 3600 sec</a:t>
                </a:r>
              </a:p>
              <a:p>
                <a:pPr lvl="1"/>
                <a:r>
                  <a:rPr lang="en-AU" sz="1600" dirty="0"/>
                  <a:t>Proposed method provides roughly same performance</a:t>
                </a:r>
              </a:p>
              <a:p>
                <a:r>
                  <a:rPr lang="en-AU" sz="1800" dirty="0"/>
                  <a:t>Maybe </a:t>
                </a:r>
                <a:r>
                  <a:rPr lang="en-AU" sz="1800" dirty="0" err="1"/>
                  <a:t>mae</a:t>
                </a:r>
                <a:r>
                  <a:rPr lang="en-AU" sz="1800" dirty="0"/>
                  <a:t> or </a:t>
                </a:r>
                <a:r>
                  <a:rPr lang="en-AU" sz="1800" dirty="0" err="1"/>
                  <a:t>rmse</a:t>
                </a:r>
                <a:r>
                  <a:rPr lang="en-AU" sz="1800" dirty="0"/>
                  <a:t> can be added to this table to explain this phenomenon</a:t>
                </a:r>
              </a:p>
              <a:p>
                <a:endParaRPr lang="en-AU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0181E3-CB75-CC9C-F3EF-106871426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47933" y="1690688"/>
                <a:ext cx="5375859" cy="4496586"/>
              </a:xfrm>
              <a:blipFill>
                <a:blip r:embed="rId2"/>
                <a:stretch>
                  <a:fillRect l="-794" t="-12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4733BCA-8D73-75E0-3848-2056E38D4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76" y="1482290"/>
            <a:ext cx="5725009" cy="434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45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57914-137B-B658-0AC7-9C562A60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Length sensitivity analysis (LSA)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4F23A-4D28-7367-ABB5-36FFD701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819"/>
            <a:ext cx="10515600" cy="5140785"/>
          </a:xfrm>
        </p:spPr>
        <p:txBody>
          <a:bodyPr>
            <a:normAutofit/>
          </a:bodyPr>
          <a:lstStyle/>
          <a:p>
            <a:r>
              <a:rPr lang="en-AU" dirty="0"/>
              <a:t>Base neural network architecture</a:t>
            </a:r>
          </a:p>
          <a:p>
            <a:pPr lvl="1"/>
            <a:r>
              <a:rPr lang="en-AU" dirty="0"/>
              <a:t>3 hidden </a:t>
            </a:r>
            <a:r>
              <a:rPr lang="en-AU" dirty="0" err="1"/>
              <a:t>ReLu</a:t>
            </a:r>
            <a:r>
              <a:rPr lang="en-AU" dirty="0"/>
              <a:t> layers with neuron = [10, 20, 10]</a:t>
            </a:r>
          </a:p>
          <a:p>
            <a:r>
              <a:rPr lang="en-AU" dirty="0"/>
              <a:t>Length of NN = Number of hidden layers</a:t>
            </a:r>
          </a:p>
          <a:p>
            <a:r>
              <a:rPr lang="en-AU" dirty="0"/>
              <a:t>For LSA, no. of neurons = 40, 4 cases considered:</a:t>
            </a:r>
          </a:p>
          <a:p>
            <a:pPr lvl="1"/>
            <a:r>
              <a:rPr lang="en-AU" dirty="0"/>
              <a:t>1 layer, neurons = [40]</a:t>
            </a:r>
          </a:p>
          <a:p>
            <a:pPr lvl="1"/>
            <a:r>
              <a:rPr lang="en-AU" dirty="0"/>
              <a:t>2 layers, neurons = [20, 20]</a:t>
            </a:r>
          </a:p>
          <a:p>
            <a:pPr lvl="1"/>
            <a:r>
              <a:rPr lang="en-AU" dirty="0"/>
              <a:t>4 layers, neurons = [5, 15, 15, 5]</a:t>
            </a:r>
          </a:p>
          <a:p>
            <a:pPr lvl="1"/>
            <a:r>
              <a:rPr lang="en-AU" dirty="0"/>
              <a:t>5 layers, neurons = [2, 8, 20, 8, 2]</a:t>
            </a:r>
          </a:p>
          <a:p>
            <a:r>
              <a:rPr lang="en-AU" dirty="0"/>
              <a:t>Trained two set of NNs for each – Unconstrained and constrained</a:t>
            </a:r>
          </a:p>
          <a:p>
            <a:r>
              <a:rPr lang="en-AU" dirty="0"/>
              <a:t>Only 10 low price scenarios considered for optimization</a:t>
            </a:r>
          </a:p>
        </p:txBody>
      </p:sp>
    </p:spTree>
    <p:extLst>
      <p:ext uri="{BB962C8B-B14F-4D97-AF65-F5344CB8AC3E}">
        <p14:creationId xmlns:p14="http://schemas.microsoft.com/office/powerpoint/2010/main" val="286198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60CCA-2703-5D8C-F979-88A5AC4E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F91F1-5322-5AC3-4EA5-F66377249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593" y="2240330"/>
            <a:ext cx="5619875" cy="3552457"/>
          </a:xfrm>
        </p:spPr>
        <p:txBody>
          <a:bodyPr>
            <a:normAutofit/>
          </a:bodyPr>
          <a:lstStyle/>
          <a:p>
            <a:r>
              <a:rPr lang="en-AU" sz="1800" dirty="0"/>
              <a:t>Proposed method provides the best objective value for all lengths</a:t>
            </a:r>
          </a:p>
          <a:p>
            <a:r>
              <a:rPr lang="en-AU" sz="1800" dirty="0"/>
              <a:t>Runtimes for the three NN methods do not vary significantly with increasing length</a:t>
            </a:r>
          </a:p>
          <a:p>
            <a:r>
              <a:rPr lang="en-AU" sz="1800" dirty="0"/>
              <a:t>PCAR and PCTAR objective value improve performance with increasing lengths except  length = 3 (Base case results), 5</a:t>
            </a:r>
          </a:p>
          <a:p>
            <a:pPr lvl="1"/>
            <a:r>
              <a:rPr lang="en-AU" sz="1600" dirty="0"/>
              <a:t>Maybe an odd or even thing</a:t>
            </a:r>
          </a:p>
          <a:p>
            <a:pPr lvl="1"/>
            <a:r>
              <a:rPr lang="en-AU" sz="1600" dirty="0"/>
              <a:t>Should I add 6 layer?</a:t>
            </a:r>
          </a:p>
          <a:p>
            <a:r>
              <a:rPr lang="en-AU" sz="1800" dirty="0" err="1"/>
              <a:t>Gurobi</a:t>
            </a:r>
            <a:r>
              <a:rPr lang="en-AU" sz="1800" dirty="0"/>
              <a:t> ML runtime increases with increasing length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6A88C-F5E5-0B46-8530-8DBBBCDE1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94" y="1856156"/>
            <a:ext cx="5724000" cy="432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1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07CF-AA16-19AC-4214-31007FF1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Journal paper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C3ADC-B0F2-2BEE-3431-91E1258E3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3967"/>
            <a:ext cx="10515600" cy="4968908"/>
          </a:xfrm>
        </p:spPr>
        <p:txBody>
          <a:bodyPr/>
          <a:lstStyle/>
          <a:p>
            <a:r>
              <a:rPr lang="en-AU" dirty="0"/>
              <a:t>Introduction</a:t>
            </a:r>
          </a:p>
          <a:p>
            <a:pPr lvl="1"/>
            <a:r>
              <a:rPr lang="en-AU" dirty="0"/>
              <a:t>Increasing renewables and DER </a:t>
            </a:r>
            <a:r>
              <a:rPr lang="en-AU" dirty="0">
                <a:sym typeface="Wingdings" panose="05000000000000000000" pitchFamily="2" charset="2"/>
              </a:rPr>
              <a:t> Increased complexity of grid</a:t>
            </a:r>
          </a:p>
          <a:p>
            <a:pPr lvl="1"/>
            <a:r>
              <a:rPr lang="en-AU" dirty="0">
                <a:sym typeface="Wingdings" panose="05000000000000000000" pitchFamily="2" charset="2"/>
              </a:rPr>
              <a:t>Modelling grid explicitly is harder  Data driven approaches may be preferable</a:t>
            </a:r>
          </a:p>
          <a:p>
            <a:pPr lvl="1"/>
            <a:r>
              <a:rPr lang="en-AU" dirty="0">
                <a:sym typeface="Wingdings" panose="05000000000000000000" pitchFamily="2" charset="2"/>
              </a:rPr>
              <a:t>Optimization problem are ubiquitous in this power systems  OCL framework</a:t>
            </a:r>
          </a:p>
          <a:p>
            <a:pPr lvl="1"/>
            <a:r>
              <a:rPr lang="en-AU" dirty="0">
                <a:sym typeface="Wingdings" panose="05000000000000000000" pitchFamily="2" charset="2"/>
              </a:rPr>
              <a:t>Applications of OCL framework in current state of the art(SOTA)</a:t>
            </a:r>
          </a:p>
          <a:p>
            <a:pPr lvl="1"/>
            <a:r>
              <a:rPr lang="en-AU" dirty="0">
                <a:sym typeface="Wingdings" panose="05000000000000000000" pitchFamily="2" charset="2"/>
              </a:rPr>
              <a:t>Why </a:t>
            </a:r>
            <a:r>
              <a:rPr lang="en-AU" dirty="0" err="1">
                <a:sym typeface="Wingdings" panose="05000000000000000000" pitchFamily="2" charset="2"/>
              </a:rPr>
              <a:t>ReLu</a:t>
            </a:r>
            <a:r>
              <a:rPr lang="en-AU" dirty="0">
                <a:sym typeface="Wingdings" panose="05000000000000000000" pitchFamily="2" charset="2"/>
              </a:rPr>
              <a:t> DNNs are of interest?</a:t>
            </a:r>
          </a:p>
          <a:p>
            <a:pPr lvl="1"/>
            <a:r>
              <a:rPr lang="en-AU" dirty="0">
                <a:sym typeface="Wingdings" panose="05000000000000000000" pitchFamily="2" charset="2"/>
              </a:rPr>
              <a:t>SOTA reformulations of </a:t>
            </a:r>
            <a:r>
              <a:rPr lang="en-AU" dirty="0" err="1">
                <a:sym typeface="Wingdings" panose="05000000000000000000" pitchFamily="2" charset="2"/>
              </a:rPr>
              <a:t>ReLu</a:t>
            </a:r>
            <a:r>
              <a:rPr lang="en-AU" dirty="0">
                <a:sym typeface="Wingdings" panose="05000000000000000000" pitchFamily="2" charset="2"/>
              </a:rPr>
              <a:t> DNN and associated challenges</a:t>
            </a:r>
          </a:p>
          <a:p>
            <a:pPr lvl="2"/>
            <a:r>
              <a:rPr lang="en-AU" dirty="0">
                <a:sym typeface="Wingdings" panose="05000000000000000000" pitchFamily="2" charset="2"/>
              </a:rPr>
              <a:t>Tight ILP formulation  Tractability issues</a:t>
            </a:r>
          </a:p>
          <a:p>
            <a:pPr lvl="2"/>
            <a:r>
              <a:rPr lang="en-AU" dirty="0">
                <a:sym typeface="Wingdings" panose="05000000000000000000" pitchFamily="2" charset="2"/>
              </a:rPr>
              <a:t>PCAR and PCTAR LP reformulations  Tightness not guaranteed!</a:t>
            </a:r>
          </a:p>
        </p:txBody>
      </p:sp>
    </p:spTree>
    <p:extLst>
      <p:ext uri="{BB962C8B-B14F-4D97-AF65-F5344CB8AC3E}">
        <p14:creationId xmlns:p14="http://schemas.microsoft.com/office/powerpoint/2010/main" val="1858796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CCED-139B-DA17-9246-01447386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Journal paper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179E-7885-F20E-B7EC-0BCE330CA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952"/>
            <a:ext cx="10515600" cy="5397500"/>
          </a:xfrm>
        </p:spPr>
        <p:txBody>
          <a:bodyPr>
            <a:normAutofit/>
          </a:bodyPr>
          <a:lstStyle/>
          <a:p>
            <a:r>
              <a:rPr lang="en-AU" dirty="0"/>
              <a:t>Contributions</a:t>
            </a:r>
          </a:p>
          <a:p>
            <a:pPr lvl="1"/>
            <a:r>
              <a:rPr lang="en-AU" dirty="0"/>
              <a:t>Tight LP reformulation for </a:t>
            </a:r>
            <a:r>
              <a:rPr lang="en-AU" dirty="0" err="1"/>
              <a:t>ReLu</a:t>
            </a:r>
            <a:r>
              <a:rPr lang="en-AU" dirty="0"/>
              <a:t> DNNs used to represent cost functions within minimization problems</a:t>
            </a:r>
          </a:p>
          <a:p>
            <a:pPr lvl="1"/>
            <a:r>
              <a:rPr lang="en-AU" dirty="0"/>
              <a:t>Demonstrate performance using a BTM flexibility aggregator application</a:t>
            </a:r>
          </a:p>
          <a:p>
            <a:r>
              <a:rPr lang="en-AU" dirty="0" err="1"/>
              <a:t>ReLu</a:t>
            </a:r>
            <a:r>
              <a:rPr lang="en-AU" dirty="0"/>
              <a:t> DNN reformulation</a:t>
            </a:r>
          </a:p>
          <a:p>
            <a:pPr lvl="1"/>
            <a:r>
              <a:rPr lang="en-AU" dirty="0"/>
              <a:t>Reformulation and proof</a:t>
            </a:r>
          </a:p>
          <a:p>
            <a:pPr lvl="1"/>
            <a:r>
              <a:rPr lang="en-AU" dirty="0"/>
              <a:t>Properties of non-negative weight constrained </a:t>
            </a:r>
            <a:r>
              <a:rPr lang="en-AU" dirty="0" err="1"/>
              <a:t>ReLu</a:t>
            </a:r>
            <a:r>
              <a:rPr lang="en-AU" dirty="0"/>
              <a:t> DNNs</a:t>
            </a:r>
          </a:p>
          <a:p>
            <a:r>
              <a:rPr lang="en-AU" dirty="0"/>
              <a:t>OCL Case study</a:t>
            </a:r>
          </a:p>
          <a:p>
            <a:pPr lvl="1"/>
            <a:r>
              <a:rPr lang="en-AU" dirty="0"/>
              <a:t>Background: BTM aggregator, </a:t>
            </a:r>
            <a:r>
              <a:rPr lang="en-AU" dirty="0" err="1"/>
              <a:t>mFRR</a:t>
            </a:r>
            <a:r>
              <a:rPr lang="en-AU" dirty="0"/>
              <a:t> capacity market, why OCL?</a:t>
            </a:r>
          </a:p>
          <a:p>
            <a:pPr lvl="1"/>
            <a:r>
              <a:rPr lang="en-AU" dirty="0"/>
              <a:t>Assumptions of case study</a:t>
            </a:r>
          </a:p>
          <a:p>
            <a:pPr lvl="1"/>
            <a:r>
              <a:rPr lang="en-AU" dirty="0"/>
              <a:t>Mathematical models: Optimization and prosumer responsiveness</a:t>
            </a:r>
          </a:p>
          <a:p>
            <a:pPr lvl="1"/>
            <a:r>
              <a:rPr lang="en-AU" dirty="0" err="1"/>
              <a:t>ReLu</a:t>
            </a:r>
            <a:r>
              <a:rPr lang="en-AU" dirty="0"/>
              <a:t> DNN training methodology: Data generation, preprocessing and training </a:t>
            </a:r>
            <a:r>
              <a:rPr lang="en-AU" dirty="0" err="1"/>
              <a:t>hyperparams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704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81C38-3884-968C-C38D-C96C8AEC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Journal paper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C0E9F-7AA7-3F97-BFAB-9B56D84EC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94"/>
            <a:ext cx="10515600" cy="4820272"/>
          </a:xfrm>
        </p:spPr>
        <p:txBody>
          <a:bodyPr/>
          <a:lstStyle/>
          <a:p>
            <a:r>
              <a:rPr lang="en-AU" dirty="0"/>
              <a:t>Simulation study and results</a:t>
            </a:r>
          </a:p>
          <a:p>
            <a:pPr lvl="1"/>
            <a:r>
              <a:rPr lang="en-AU" dirty="0"/>
              <a:t>Optimization parameters</a:t>
            </a:r>
          </a:p>
          <a:p>
            <a:pPr lvl="1"/>
            <a:r>
              <a:rPr lang="en-AU" dirty="0"/>
              <a:t>Tractability and accuracy analysis</a:t>
            </a:r>
          </a:p>
          <a:p>
            <a:pPr lvl="1"/>
            <a:r>
              <a:rPr lang="en-AU" dirty="0"/>
              <a:t>PCAR and PCTAR sensitivity analysis</a:t>
            </a:r>
          </a:p>
          <a:p>
            <a:pPr lvl="1"/>
            <a:r>
              <a:rPr lang="en-AU" dirty="0"/>
              <a:t>LSA and WSA </a:t>
            </a:r>
          </a:p>
          <a:p>
            <a:r>
              <a:rPr lang="en-AU" dirty="0"/>
              <a:t>Conclusions and Future scope</a:t>
            </a:r>
          </a:p>
          <a:p>
            <a:pPr lvl="1"/>
            <a:r>
              <a:rPr lang="en-AU" dirty="0"/>
              <a:t>Proposed is best performing</a:t>
            </a:r>
          </a:p>
          <a:p>
            <a:pPr lvl="1"/>
            <a:r>
              <a:rPr lang="en-AU" dirty="0"/>
              <a:t>It is not generalizable: limited to monotonic and minimized functions </a:t>
            </a:r>
          </a:p>
          <a:p>
            <a:pPr lvl="1"/>
            <a:r>
              <a:rPr lang="en-AU" dirty="0"/>
              <a:t>Develop idea for monotonically decreasing functions!</a:t>
            </a:r>
          </a:p>
          <a:p>
            <a:r>
              <a:rPr lang="en-AU" b="1" dirty="0"/>
              <a:t>Note: Proposed method to be called non-negative weight constrained LP reformulation or NNWCLP</a:t>
            </a:r>
          </a:p>
        </p:txBody>
      </p:sp>
    </p:spTree>
    <p:extLst>
      <p:ext uri="{BB962C8B-B14F-4D97-AF65-F5344CB8AC3E}">
        <p14:creationId xmlns:p14="http://schemas.microsoft.com/office/powerpoint/2010/main" val="2883318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567</Words>
  <Application>Microsoft Office PowerPoint</Application>
  <PresentationFormat>Widescreen</PresentationFormat>
  <Paragraphs>71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Wingdings</vt:lpstr>
      <vt:lpstr>Office Theme</vt:lpstr>
      <vt:lpstr>Status update 24/10/24</vt:lpstr>
      <vt:lpstr>Width sensitivity analysis (WSA)</vt:lpstr>
      <vt:lpstr>Results</vt:lpstr>
      <vt:lpstr>Length sensitivity analysis (LSA)</vt:lpstr>
      <vt:lpstr>Results</vt:lpstr>
      <vt:lpstr>Journal paper structure</vt:lpstr>
      <vt:lpstr>Journal paper structure</vt:lpstr>
      <vt:lpstr>Journal paper structure</vt:lpstr>
    </vt:vector>
  </TitlesOfParts>
  <Company>The University of Adelaide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Pipada Sunil Kumar</dc:creator>
  <cp:lastModifiedBy>Yogesh Pipada Sunil Kumar</cp:lastModifiedBy>
  <cp:revision>3</cp:revision>
  <dcterms:created xsi:type="dcterms:W3CDTF">2024-10-23T23:48:36Z</dcterms:created>
  <dcterms:modified xsi:type="dcterms:W3CDTF">2024-10-24T01:26:26Z</dcterms:modified>
</cp:coreProperties>
</file>