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81B5-0FFE-63A8-29FC-AE2BDDAA4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B9CF-CC34-5A04-20ED-E8B381D8C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F45C6-7E6A-B43C-BF60-11977985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0A14A-875B-80EB-77EC-FA0E6871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36CA2-5586-EE15-FDAD-BC603B72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83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BA03-5E60-BC4F-A268-5C3EAF203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C0DC7-9E57-4575-D917-E46191000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A0DF1-03BF-3ED3-3AB0-7BFF4E82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63F14-04DC-D5AA-97CD-FB5BCC02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0C7AE-4376-ABE9-66ED-2BC16BE5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35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ECE3-3AF2-9DFF-FB71-9C454446F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7FB7D-960D-6980-B2A6-317F3621E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8BB2-3219-CAD3-CD55-1CB686DAA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3D4CC-5C7D-A76F-C956-D1C41EB9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3E04A-AFAC-966A-48AC-8E891FCE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435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53DC-D014-932C-46EB-066C4A77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BD824-911E-FECA-31EF-CA93CDB85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03522-5B19-EC69-8A00-8B577AE13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A0BD4-77EC-3DEA-D1FA-B6822FC0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30163-3BF0-C0BB-2905-589F2642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6FCDE-E0B9-1280-8BCF-53431655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6095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4A27-EFE3-45E4-DF2E-25F476E6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C1C2A-70C2-40B6-FCAE-A28BB5A8A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16DD8-3E29-8B60-D041-DC3714C3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A6685-56DD-D60C-CA86-A3938B271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05DBC-043E-2D94-9562-DCD749568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38E6F-99D4-C92D-3E7A-F7571E5D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04979-FCE9-6E81-6D9C-B131E5CF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739C3-D202-3235-B1B6-C970F0BF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0660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1792-1D9F-9A4F-14AF-70A97016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7910B-47D1-42E1-77A5-6BD5F6B7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4273B-7F0C-CA16-2D67-52E3C0ED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EB147-6D12-A7EF-8F6D-6D300A04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20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B8331-E183-B4B4-DEB9-F132A7ED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851C7-2747-C1C9-B323-77BFB2DD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F82B7-250A-BF16-2E5E-4D57A831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801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205C-416A-2F9F-3ED6-9A507A9E0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51651-ED14-4134-F39A-029B1F225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D6A3E-781E-7964-3DD4-C951AF49B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71296-C292-5EAF-69E9-FCFA4B9D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E0B36-6D9B-6DC0-5132-014E2A16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07A34-C305-7BA9-B5C4-C0C5B946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0407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872F-42F2-60A3-E7B1-77F6B56DE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0F24A-23DD-278C-8F52-E5551956B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990FB-CD19-F742-7C48-B3FA7783A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9EF8E-5DE0-5FCB-8DF9-1614BB94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D9414-1F35-E41D-7B71-6F018C665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05A8F-ACA7-0AA6-B35D-67B0B526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16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38406-9864-14B3-10D3-FB92A99D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4546-97B7-4A49-1B40-3D36783C3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73AF0-19A0-E8FA-1FDA-E2B43AD9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232C-2B86-775D-820F-C817C1AD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CA43-A303-DB30-3BDB-1CA6DF41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74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CD8C0-EADA-7AD6-2D7C-B5578BA3D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BEF6F-F3EB-CAEA-8496-78A60EA51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591BC-A754-3DD6-EE96-7DF74F79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433EB-36B5-4D82-84DE-E2D47AC2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D78C2-11A1-6F9D-55A8-2936D0D8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3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B594C-571D-41A1-7D27-C16E594A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051E1-D30E-DD85-03AF-07AA08DDB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479EE-628D-151D-8301-D73B5EF53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04721A-8DE9-4F05-B528-58A0E4D3561A}" type="datetimeFigureOut">
              <a:rPr lang="en-AU" smtClean="0"/>
              <a:t>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77244-1871-5F14-6E65-D3718F5B1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4D991-6FB1-C3AC-EC0F-AA81E6AEE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2A5A0-CA75-4F10-A6BF-BF47B4583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97C8-EF53-02FF-28CD-0A9A36DED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Status update 3/10/24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3A851-8CB9-FDE5-58E5-4F95B71C97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9670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EA18-D781-A5E4-914A-543F8657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Refresher - Price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277AA-1F06-7825-32C8-EF111436C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215"/>
            <a:ext cx="4715391" cy="3066543"/>
          </a:xfrm>
        </p:spPr>
        <p:txBody>
          <a:bodyPr>
            <a:noAutofit/>
          </a:bodyPr>
          <a:lstStyle/>
          <a:p>
            <a:r>
              <a:rPr lang="en-AU" sz="2400" dirty="0"/>
              <a:t>Price ranges</a:t>
            </a:r>
          </a:p>
          <a:p>
            <a:pPr lvl="1"/>
            <a:r>
              <a:rPr lang="en-AU" sz="2000" dirty="0"/>
              <a:t>Low prices – 0-10 DKK/MWh</a:t>
            </a:r>
          </a:p>
          <a:p>
            <a:pPr lvl="1"/>
            <a:r>
              <a:rPr lang="en-AU" sz="2000" dirty="0"/>
              <a:t>Med prices – 25-100 DKK/MWh</a:t>
            </a:r>
          </a:p>
          <a:p>
            <a:pPr lvl="1"/>
            <a:r>
              <a:rPr lang="en-AU" sz="2000" dirty="0"/>
              <a:t>High prices 150+ DKK/MWh </a:t>
            </a:r>
          </a:p>
          <a:p>
            <a:r>
              <a:rPr lang="en-AU" sz="2400" dirty="0"/>
              <a:t>Selected 10 price scenarios each</a:t>
            </a:r>
          </a:p>
          <a:p>
            <a:r>
              <a:rPr lang="en-AU" sz="2400" dirty="0"/>
              <a:t>Low price scenario is most likely case</a:t>
            </a:r>
          </a:p>
          <a:p>
            <a:endParaRPr lang="en-AU" sz="2400" dirty="0"/>
          </a:p>
        </p:txBody>
      </p:sp>
      <p:pic>
        <p:nvPicPr>
          <p:cNvPr id="9" name="Picture 8" descr="A group of graphs showing different sizes and numbers&#10;&#10;Description automatically generated with medium confidence">
            <a:extLst>
              <a:ext uri="{FF2B5EF4-FFF2-40B4-BE49-F238E27FC236}">
                <a16:creationId xmlns:a16="http://schemas.microsoft.com/office/drawing/2014/main" id="{6DFB2228-AAC0-7655-4CA4-BB63029AB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865" y="1546215"/>
            <a:ext cx="5760000" cy="3840000"/>
          </a:xfrm>
          <a:prstGeom prst="rect">
            <a:avLst/>
          </a:prstGeom>
        </p:spPr>
      </p:pic>
      <p:pic>
        <p:nvPicPr>
          <p:cNvPr id="11" name="Picture 10" descr="A graph with a line graph and text&#10;&#10;Description automatically generated">
            <a:extLst>
              <a:ext uri="{FF2B5EF4-FFF2-40B4-BE49-F238E27FC236}">
                <a16:creationId xmlns:a16="http://schemas.microsoft.com/office/drawing/2014/main" id="{21B62D8D-3F5B-9F77-EBEC-E336A7A6F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86" y="4612758"/>
            <a:ext cx="3600000" cy="171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5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2991-7A30-F15B-02D9-BCD259B0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Comparing </a:t>
            </a:r>
            <a:r>
              <a:rPr lang="en-AU" dirty="0" err="1"/>
              <a:t>ReLu</a:t>
            </a:r>
            <a:r>
              <a:rPr lang="en-AU" dirty="0"/>
              <a:t> DNN LP formulations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6FA79A47-1269-352B-781A-5F126005B1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066541"/>
              </p:ext>
            </p:extLst>
          </p:nvPr>
        </p:nvGraphicFramePr>
        <p:xfrm>
          <a:off x="838200" y="1825625"/>
          <a:ext cx="10515606" cy="425196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752601">
                  <a:extLst>
                    <a:ext uri="{9D8B030D-6E8A-4147-A177-3AD203B41FA5}">
                      <a16:colId xmlns:a16="http://schemas.microsoft.com/office/drawing/2014/main" val="69330560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3956366447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700307618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824788660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392713690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3143782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Price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Average net revenue DKK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Average run times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Average CPU times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No. of suboptimal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56861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PCTAR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50861.258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3789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50861.258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7432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50669.906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9413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PCTAR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3870.433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6907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3870.433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0643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3894.101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2841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PCTAR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-514.241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6496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-514.241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4026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226.277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927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9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9AF-2E6D-416C-9A0D-A0514D3F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Paper structure -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ED-43A2-75EF-42F2-B19D8ABC8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17"/>
            <a:ext cx="10515600" cy="5314373"/>
          </a:xfrm>
        </p:spPr>
        <p:txBody>
          <a:bodyPr>
            <a:normAutofit/>
          </a:bodyPr>
          <a:lstStyle/>
          <a:p>
            <a:r>
              <a:rPr lang="en-AU" dirty="0"/>
              <a:t>Introduction </a:t>
            </a:r>
          </a:p>
          <a:p>
            <a:pPr lvl="1"/>
            <a:r>
              <a:rPr lang="en-AU" dirty="0"/>
              <a:t>Motivation + Literature review</a:t>
            </a:r>
          </a:p>
          <a:p>
            <a:pPr lvl="1"/>
            <a:r>
              <a:rPr lang="en-AU" dirty="0"/>
              <a:t>Contributions</a:t>
            </a:r>
          </a:p>
          <a:p>
            <a:r>
              <a:rPr lang="en-AU" dirty="0" err="1"/>
              <a:t>ReLu</a:t>
            </a:r>
            <a:r>
              <a:rPr lang="en-AU" dirty="0"/>
              <a:t> DNN reformulation</a:t>
            </a:r>
          </a:p>
          <a:p>
            <a:pPr lvl="1"/>
            <a:r>
              <a:rPr lang="en-AU" dirty="0"/>
              <a:t>Proof</a:t>
            </a:r>
          </a:p>
          <a:p>
            <a:pPr lvl="1"/>
            <a:r>
              <a:rPr lang="en-AU" dirty="0"/>
              <a:t>Properties (fundamental analysis)</a:t>
            </a:r>
          </a:p>
          <a:p>
            <a:r>
              <a:rPr lang="en-AU" dirty="0"/>
              <a:t>OCL case study</a:t>
            </a:r>
          </a:p>
          <a:p>
            <a:pPr lvl="1"/>
            <a:r>
              <a:rPr lang="en-AU" dirty="0"/>
              <a:t>Prosumer responsiveness model</a:t>
            </a:r>
          </a:p>
          <a:p>
            <a:pPr lvl="1"/>
            <a:r>
              <a:rPr lang="en-AU" dirty="0" err="1"/>
              <a:t>mFRR</a:t>
            </a:r>
            <a:r>
              <a:rPr lang="en-AU" dirty="0"/>
              <a:t> capacity market optimization</a:t>
            </a:r>
          </a:p>
          <a:p>
            <a:pPr lvl="1"/>
            <a:r>
              <a:rPr lang="en-AU" dirty="0"/>
              <a:t>Approximation techniques – PWL, </a:t>
            </a:r>
            <a:r>
              <a:rPr lang="en-AU" dirty="0" err="1"/>
              <a:t>Gurobi</a:t>
            </a:r>
            <a:r>
              <a:rPr lang="en-AU" dirty="0"/>
              <a:t> ML, PCAR, PCTAR, proposed </a:t>
            </a:r>
          </a:p>
        </p:txBody>
      </p:sp>
    </p:spTree>
    <p:extLst>
      <p:ext uri="{BB962C8B-B14F-4D97-AF65-F5344CB8AC3E}">
        <p14:creationId xmlns:p14="http://schemas.microsoft.com/office/powerpoint/2010/main" val="414740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9AF-2E6D-416C-9A0D-A0514D3F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Paper structure -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ED-43A2-75EF-42F2-B19D8ABC8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17"/>
            <a:ext cx="10515600" cy="5314373"/>
          </a:xfrm>
        </p:spPr>
        <p:txBody>
          <a:bodyPr>
            <a:normAutofit/>
          </a:bodyPr>
          <a:lstStyle/>
          <a:p>
            <a:r>
              <a:rPr lang="en-AU" dirty="0"/>
              <a:t>Simulation study and results</a:t>
            </a:r>
          </a:p>
          <a:p>
            <a:pPr lvl="1"/>
            <a:r>
              <a:rPr lang="en-AU" dirty="0"/>
              <a:t>NN training </a:t>
            </a:r>
          </a:p>
          <a:p>
            <a:pPr lvl="1"/>
            <a:r>
              <a:rPr lang="en-AU" dirty="0"/>
              <a:t>Case study </a:t>
            </a:r>
          </a:p>
          <a:p>
            <a:pPr lvl="2"/>
            <a:r>
              <a:rPr lang="en-AU" dirty="0"/>
              <a:t>Tractability analysis</a:t>
            </a:r>
          </a:p>
          <a:p>
            <a:pPr lvl="2"/>
            <a:r>
              <a:rPr lang="en-AU" dirty="0"/>
              <a:t>Price scenario analysis</a:t>
            </a:r>
          </a:p>
          <a:p>
            <a:pPr lvl="2"/>
            <a:r>
              <a:rPr lang="en-AU" dirty="0"/>
              <a:t>Accuracy analysis </a:t>
            </a:r>
          </a:p>
          <a:p>
            <a:pPr lvl="1"/>
            <a:r>
              <a:rPr lang="en-AU" dirty="0"/>
              <a:t>Case study – penalty sensitivity analysis</a:t>
            </a:r>
          </a:p>
          <a:p>
            <a:pPr lvl="2"/>
            <a:r>
              <a:rPr lang="en-AU" dirty="0"/>
              <a:t>Relevant results</a:t>
            </a:r>
          </a:p>
          <a:p>
            <a:pPr lvl="1"/>
            <a:r>
              <a:rPr lang="en-AU" dirty="0"/>
              <a:t>(Optional) </a:t>
            </a:r>
            <a:r>
              <a:rPr lang="en-AU" dirty="0" err="1"/>
              <a:t>ReLu</a:t>
            </a:r>
            <a:r>
              <a:rPr lang="en-AU" dirty="0"/>
              <a:t> DNN length and width sensitivity analysis</a:t>
            </a:r>
          </a:p>
          <a:p>
            <a:pPr lvl="2"/>
            <a:r>
              <a:rPr lang="en-AU" dirty="0"/>
              <a:t>Relevant results</a:t>
            </a:r>
          </a:p>
          <a:p>
            <a:r>
              <a:rPr lang="en-AU" dirty="0"/>
              <a:t>Conclusions and future scope</a:t>
            </a:r>
          </a:p>
        </p:txBody>
      </p:sp>
    </p:spTree>
    <p:extLst>
      <p:ext uri="{BB962C8B-B14F-4D97-AF65-F5344CB8AC3E}">
        <p14:creationId xmlns:p14="http://schemas.microsoft.com/office/powerpoint/2010/main" val="140675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202</Words>
  <Application>Microsoft Office PowerPoint</Application>
  <PresentationFormat>Widescreen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Status update 3/10/24</vt:lpstr>
      <vt:lpstr>Refresher - Price scenarios</vt:lpstr>
      <vt:lpstr>Comparing ReLu DNN LP formulations</vt:lpstr>
      <vt:lpstr>Paper structure - I</vt:lpstr>
      <vt:lpstr>Paper structure - II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Pipada Sunil Kumar</dc:creator>
  <cp:lastModifiedBy>Yogesh Pipada Sunil Kumar</cp:lastModifiedBy>
  <cp:revision>8</cp:revision>
  <dcterms:created xsi:type="dcterms:W3CDTF">2024-09-30T03:12:09Z</dcterms:created>
  <dcterms:modified xsi:type="dcterms:W3CDTF">2024-10-03T06:35:32Z</dcterms:modified>
</cp:coreProperties>
</file>