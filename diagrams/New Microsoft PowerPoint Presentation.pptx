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44" y="-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1E8CBA-F6B5-4D18-8E04-B746B49E17A3}" type="datetimeFigureOut">
              <a:rPr lang="en-AU" smtClean="0"/>
              <a:t>2/03/2026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F22B7F-B714-4331-8921-A8D5A304EE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8926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22B7F-B714-4331-8921-A8D5A304EEAD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336193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823A4-D077-76FC-6E14-B7ECBAFEE3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3D9EAE-81F1-55CF-9338-FC109833EF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B56E8E-0D3C-67E8-9BD0-9F9064C93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39A11-E477-43B8-B2AE-8EC1298D788B}" type="datetimeFigureOut">
              <a:rPr lang="en-AU" smtClean="0"/>
              <a:t>2/03/2026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42BE6-5D38-C21C-9638-25DFC985A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555074-6025-7043-E2EE-6F6C185CF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48933-1F3B-4FCD-8264-DAC93A43FB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7325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081C1-61B3-9A35-2F25-A9CE58F6F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7F2AE-ED24-CF4F-F229-13A3F0021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1E6E4-B55A-F6B1-A617-46FE67AF1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39A11-E477-43B8-B2AE-8EC1298D788B}" type="datetimeFigureOut">
              <a:rPr lang="en-AU" smtClean="0"/>
              <a:t>2/03/2026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03353-0EF0-A0D0-44CB-F3FBE6ECA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08673-58E3-0058-2D97-A3B317342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48933-1F3B-4FCD-8264-DAC93A43FB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221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BE180-FFA1-C37C-6AE8-BF0BD6FB7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45313D-5845-38CA-74C3-7FD0F2589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EB460-7C30-7BD9-7670-325DC0D25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39A11-E477-43B8-B2AE-8EC1298D788B}" type="datetimeFigureOut">
              <a:rPr lang="en-AU" smtClean="0"/>
              <a:t>2/03/2026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4FE3F-DC04-F87E-62AF-0E3A3EFF6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C21B9-2182-F13B-ED7E-738F4F780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48933-1F3B-4FCD-8264-DAC93A43FB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7598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C6075-36E7-50F5-1E2E-E56C1102B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D134D-0D42-5329-8973-357196CCDA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C147E9-F2FD-433B-384F-6405949A97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49A9D6-EDD1-461B-9870-7CF6DE1D2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39A11-E477-43B8-B2AE-8EC1298D788B}" type="datetimeFigureOut">
              <a:rPr lang="en-AU" smtClean="0"/>
              <a:t>2/03/2026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E298C0-310E-97BE-62F5-A31DBA4DE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3E5972-056B-687C-B66D-3CB8B213E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48933-1F3B-4FCD-8264-DAC93A43FB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0473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5C531-F521-8BAC-CF76-ACF68EDD1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119A97-566A-5990-D621-16F9902741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D48FC1-8A60-7734-5C41-C29E84AD43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7EAAF2-908D-C8B8-6145-E63C96BAF1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5D6E51-C387-A8F4-082F-85AEC4367D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9DB109-CFA3-5B17-275F-53BB6E43E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39A11-E477-43B8-B2AE-8EC1298D788B}" type="datetimeFigureOut">
              <a:rPr lang="en-AU" smtClean="0"/>
              <a:t>2/03/2026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08F23C-F396-956E-0B75-6418B56EE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D26866-5ECF-5242-1EF8-69123B97A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48933-1F3B-4FCD-8264-DAC93A43FB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7183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49EC4-9D28-34B0-B046-64EADB725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28F6F3-FB45-1565-6371-91A0A63AC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39A11-E477-43B8-B2AE-8EC1298D788B}" type="datetimeFigureOut">
              <a:rPr lang="en-AU" smtClean="0"/>
              <a:t>2/03/2026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7D3331-E1C7-4202-B0CD-A9AB53795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1F2545-7481-0081-60C0-75FBC53AE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48933-1F3B-4FCD-8264-DAC93A43FB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0369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F53976-010F-08D4-7BB6-E73D9982E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39A11-E477-43B8-B2AE-8EC1298D788B}" type="datetimeFigureOut">
              <a:rPr lang="en-AU" smtClean="0"/>
              <a:t>2/03/2026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57B09D-C2B8-1D6A-674C-4DB45A42B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DBA038-CF67-2F0E-A880-554A06E94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48933-1F3B-4FCD-8264-DAC93A43FB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6396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92B63-8D25-BB49-CC97-0B218C894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660D3-5F94-1EF1-0A2E-CE8F927AA7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EBB7A7-A13E-D0B0-0472-2F62E0C538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301243-0EA7-712E-0048-B72A5E9FE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39A11-E477-43B8-B2AE-8EC1298D788B}" type="datetimeFigureOut">
              <a:rPr lang="en-AU" smtClean="0"/>
              <a:t>2/03/2026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0DCE90-05FC-FBFB-B6F4-1AA64BC1A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1DFB88-EEC4-B85B-892C-0A997BBAF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48933-1F3B-4FCD-8264-DAC93A43FB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5724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CED3B-9207-BD55-19B9-05E7D2BAC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3FC436-CF47-2CD8-E68E-E46BE556E9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187D97-FC84-25CD-23B3-AD38CCB25D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DE343E-37A8-39B1-BD9C-C56CB7FC7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39A11-E477-43B8-B2AE-8EC1298D788B}" type="datetimeFigureOut">
              <a:rPr lang="en-AU" smtClean="0"/>
              <a:t>2/03/2026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BDBE24-518F-142F-72F5-EE874D87A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79CF17-3E3F-2188-1514-847875FE8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48933-1F3B-4FCD-8264-DAC93A43FB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5745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916C8-61E3-C26F-4D88-6786B12C2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CBC0BE-A6EF-94ED-E2BC-BD151CC0CB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803B2-B4EF-9B91-D04E-0CDE4A7C7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39A11-E477-43B8-B2AE-8EC1298D788B}" type="datetimeFigureOut">
              <a:rPr lang="en-AU" smtClean="0"/>
              <a:t>2/03/2026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C782B-3AC9-E634-10B8-1311F037D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4165F-00AE-15CF-42A3-C8BC182A6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48933-1F3B-4FCD-8264-DAC93A43FB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7765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47F1E0-FD44-D401-560E-EA3D268A22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ABC565-2B2A-8DD8-F9EA-D86510B380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F155A-EE00-7723-FF2A-1D3ABB8A6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39A11-E477-43B8-B2AE-8EC1298D788B}" type="datetimeFigureOut">
              <a:rPr lang="en-AU" smtClean="0"/>
              <a:t>2/03/2026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99D36-E1C4-B92A-E5EB-5062DE781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477E9-4C9C-0ADA-8882-E8CA4BF93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48933-1F3B-4FCD-8264-DAC93A43FB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398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3D0597-96EF-4333-D7BD-5F75B779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847AD-2412-EF33-0CC4-B66640131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4980D-F633-66A2-E776-3EF64338C3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539A11-E477-43B8-B2AE-8EC1298D788B}" type="datetimeFigureOut">
              <a:rPr lang="en-AU" smtClean="0"/>
              <a:t>2/03/2026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DC0CE-F2E3-8093-0D9D-BC6413DDAA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D95D-FC8C-C99F-E9AA-AB1C5323B5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F48933-1F3B-4FCD-8264-DAC93A43FB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4483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3" Type="http://schemas.openxmlformats.org/officeDocument/2006/relationships/image" Target="../media/image9.png"/><Relationship Id="rId21" Type="http://schemas.openxmlformats.org/officeDocument/2006/relationships/image" Target="../media/image29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Relationship Id="rId22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B3C8A-3057-C45D-C39F-230BBDF6C4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Diagrams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A3E03C-A8E1-68FF-7B89-CDEA69CFDD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2257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96F8C-8CFA-01EF-1949-16D770C02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748" y="16223"/>
            <a:ext cx="10515600" cy="1325563"/>
          </a:xfrm>
        </p:spPr>
        <p:txBody>
          <a:bodyPr/>
          <a:lstStyle/>
          <a:p>
            <a:r>
              <a:rPr lang="en-AU" dirty="0"/>
              <a:t>Aggregator BM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EF1EA30-94BA-1DAA-BF45-E366892DAE3C}"/>
              </a:ext>
            </a:extLst>
          </p:cNvPr>
          <p:cNvGrpSpPr>
            <a:grpSpLocks noChangeAspect="1"/>
          </p:cNvGrpSpPr>
          <p:nvPr/>
        </p:nvGrpSpPr>
        <p:grpSpPr>
          <a:xfrm>
            <a:off x="2638103" y="1634061"/>
            <a:ext cx="3544334" cy="2584587"/>
            <a:chOff x="2472636" y="1538903"/>
            <a:chExt cx="4810440" cy="3507855"/>
          </a:xfrm>
        </p:grpSpPr>
        <p:pic>
          <p:nvPicPr>
            <p:cNvPr id="5" name="Picture 4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835C8654-3CEF-0D04-2780-DC0420DEA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10020" y="4239097"/>
              <a:ext cx="720000" cy="720000"/>
            </a:xfrm>
            <a:prstGeom prst="rect">
              <a:avLst/>
            </a:prstGeom>
          </p:spPr>
        </p:pic>
        <p:pic>
          <p:nvPicPr>
            <p:cNvPr id="7" name="Picture 6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9E59EBC5-3354-9611-AE4B-C7882431CA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86548" y="4239097"/>
              <a:ext cx="720000" cy="720000"/>
            </a:xfrm>
            <a:prstGeom prst="rect">
              <a:avLst/>
            </a:prstGeom>
          </p:spPr>
        </p:pic>
        <p:pic>
          <p:nvPicPr>
            <p:cNvPr id="8" name="Picture 7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58B4851F-5891-59CC-C8D1-76B623FC8A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63076" y="4239097"/>
              <a:ext cx="720000" cy="720000"/>
            </a:xfrm>
            <a:prstGeom prst="rect">
              <a:avLst/>
            </a:prstGeom>
          </p:spPr>
        </p:pic>
        <p:pic>
          <p:nvPicPr>
            <p:cNvPr id="10" name="Graphic 9" descr="Social network with solid fill">
              <a:extLst>
                <a:ext uri="{FF2B5EF4-FFF2-40B4-BE49-F238E27FC236}">
                  <a16:creationId xmlns:a16="http://schemas.microsoft.com/office/drawing/2014/main" id="{B9FCD384-7C97-B087-BAD3-1BFC63E72F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206548" y="2889000"/>
              <a:ext cx="1080000" cy="1080000"/>
            </a:xfrm>
            <a:prstGeom prst="rect">
              <a:avLst/>
            </a:prstGeom>
          </p:spPr>
        </p:pic>
        <p:pic>
          <p:nvPicPr>
            <p:cNvPr id="12" name="Graphic 11" descr="Supply And Demand with solid fill">
              <a:extLst>
                <a:ext uri="{FF2B5EF4-FFF2-40B4-BE49-F238E27FC236}">
                  <a16:creationId xmlns:a16="http://schemas.microsoft.com/office/drawing/2014/main" id="{14309B59-EAA9-4C00-2214-A13D840EE6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183892" y="1538903"/>
              <a:ext cx="1080000" cy="10800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7076A0B-4CDA-3791-8445-B95E9AFBB5C7}"/>
                </a:ext>
              </a:extLst>
            </p:cNvPr>
            <p:cNvSpPr txBox="1"/>
            <p:nvPr/>
          </p:nvSpPr>
          <p:spPr>
            <a:xfrm>
              <a:off x="2472636" y="1721877"/>
              <a:ext cx="1944790" cy="7101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1400" b="1" dirty="0" err="1"/>
                <a:t>mFRR</a:t>
              </a:r>
              <a:r>
                <a:rPr lang="en-AU" sz="1400" b="1" dirty="0"/>
                <a:t> capacity market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028375A-F4E8-4471-2209-E2A1A316F53A}"/>
                </a:ext>
              </a:extLst>
            </p:cNvPr>
            <p:cNvSpPr txBox="1"/>
            <p:nvPr/>
          </p:nvSpPr>
          <p:spPr>
            <a:xfrm>
              <a:off x="2662031" y="3136927"/>
              <a:ext cx="1565999" cy="417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1400" b="1" dirty="0"/>
                <a:t>Aggregator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09DC5C94-3BD2-79C8-0A74-5B4875D3EEDE}"/>
                </a:ext>
              </a:extLst>
            </p:cNvPr>
            <p:cNvCxnSpPr/>
            <p:nvPr/>
          </p:nvCxnSpPr>
          <p:spPr>
            <a:xfrm flipH="1">
              <a:off x="4710328" y="3751333"/>
              <a:ext cx="569451" cy="374107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9FAD0C7C-D211-0B9A-B978-D5154EC5927F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4817097" y="3860167"/>
              <a:ext cx="569451" cy="374107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63AE6F12-E54A-D433-735D-ED46812F771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13317" y="3751333"/>
              <a:ext cx="569451" cy="374107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53B4BDE8-21EF-7D31-AF2E-0E6B6CD289E0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096000" y="3860167"/>
              <a:ext cx="569451" cy="374107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EE5D31D6-88E4-7AD1-617F-80895FCFC820}"/>
                </a:ext>
              </a:extLst>
            </p:cNvPr>
            <p:cNvCxnSpPr/>
            <p:nvPr/>
          </p:nvCxnSpPr>
          <p:spPr>
            <a:xfrm>
              <a:off x="5674937" y="3860167"/>
              <a:ext cx="0" cy="36000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C86496FE-DCD3-14DD-5FA6-5B51A80CAB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27337" y="3860167"/>
              <a:ext cx="0" cy="36000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5B0A4A3-A2A1-8D4E-5A7D-1C496DBFCFC2}"/>
                </a:ext>
              </a:extLst>
            </p:cNvPr>
            <p:cNvSpPr txBox="1"/>
            <p:nvPr/>
          </p:nvSpPr>
          <p:spPr>
            <a:xfrm>
              <a:off x="2637795" y="4336633"/>
              <a:ext cx="1624280" cy="7101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1400" b="1" dirty="0"/>
                <a:t>End user HEMS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6B042331-3CBA-02FD-6729-55B0A3D15E16}"/>
                </a:ext>
              </a:extLst>
            </p:cNvPr>
            <p:cNvCxnSpPr/>
            <p:nvPr/>
          </p:nvCxnSpPr>
          <p:spPr>
            <a:xfrm>
              <a:off x="5634998" y="2529000"/>
              <a:ext cx="0" cy="36000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D7112CF7-A7FD-8493-28F9-2D4E4EEE6C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87398" y="2529000"/>
              <a:ext cx="0" cy="36000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D654673-7C18-F8C3-6E23-5680E53CC272}"/>
                </a:ext>
              </a:extLst>
            </p:cNvPr>
            <p:cNvSpPr txBox="1"/>
            <p:nvPr/>
          </p:nvSpPr>
          <p:spPr>
            <a:xfrm>
              <a:off x="4367833" y="2521940"/>
              <a:ext cx="1330136" cy="417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1400" dirty="0"/>
                <a:t>Schedule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A851C85-7450-E5E4-B159-B7EDECA09017}"/>
                </a:ext>
              </a:extLst>
            </p:cNvPr>
            <p:cNvSpPr txBox="1"/>
            <p:nvPr/>
          </p:nvSpPr>
          <p:spPr>
            <a:xfrm>
              <a:off x="5780768" y="2529117"/>
              <a:ext cx="1502308" cy="417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1400" dirty="0"/>
                <a:t>Bids/Orders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1CE0F7E-96FE-DAFE-A5EB-97B536232753}"/>
                </a:ext>
              </a:extLst>
            </p:cNvPr>
            <p:cNvSpPr txBox="1"/>
            <p:nvPr/>
          </p:nvSpPr>
          <p:spPr>
            <a:xfrm>
              <a:off x="3868570" y="3561338"/>
              <a:ext cx="1330136" cy="417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1400" dirty="0"/>
                <a:t>Incentive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D52E788-387D-7C74-1CFB-05FE3F1DAC6B}"/>
                </a:ext>
              </a:extLst>
            </p:cNvPr>
            <p:cNvSpPr txBox="1"/>
            <p:nvPr/>
          </p:nvSpPr>
          <p:spPr>
            <a:xfrm>
              <a:off x="6403864" y="3587506"/>
              <a:ext cx="736856" cy="417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1400" dirty="0"/>
                <a:t>DSF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93614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907C7-B802-A571-EB2A-7EAF20899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PCAR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B7ED2B8-67C3-B4E7-C57F-922BB3700E29}"/>
              </a:ext>
            </a:extLst>
          </p:cNvPr>
          <p:cNvGrpSpPr/>
          <p:nvPr/>
        </p:nvGrpSpPr>
        <p:grpSpPr>
          <a:xfrm>
            <a:off x="6124251" y="2024707"/>
            <a:ext cx="5194797" cy="2523822"/>
            <a:chOff x="3642360" y="2005506"/>
            <a:chExt cx="5194797" cy="2523822"/>
          </a:xfrm>
        </p:grpSpPr>
        <p:pic>
          <p:nvPicPr>
            <p:cNvPr id="5" name="Picture 4" descr="A diagram of a graph&#10;&#10;Description automatically generated">
              <a:extLst>
                <a:ext uri="{FF2B5EF4-FFF2-40B4-BE49-F238E27FC236}">
                  <a16:creationId xmlns:a16="http://schemas.microsoft.com/office/drawing/2014/main" id="{12C7F039-3F44-F985-79B5-CD02FDA9EF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42360" y="2328672"/>
              <a:ext cx="4907280" cy="220065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8CD51F33-64A5-5E81-E987-818DEB916675}"/>
                    </a:ext>
                  </a:extLst>
                </p:cNvPr>
                <p:cNvSpPr txBox="1"/>
                <p:nvPr/>
              </p:nvSpPr>
              <p:spPr>
                <a:xfrm>
                  <a:off x="5521573" y="2005506"/>
                  <a:ext cx="982922" cy="6463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3600" b="1" i="1" smtClean="0">
                            <a:latin typeface="Cambria Math" panose="02040503050406030204" pitchFamily="18" charset="0"/>
                          </a:rPr>
                          <m:t>𝝈</m:t>
                        </m:r>
                        <m:d>
                          <m:dPr>
                            <m:ctrlPr>
                              <a:rPr lang="en-AU" sz="36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3600" b="1" i="1" smtClean="0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</m:d>
                      </m:oMath>
                    </m:oMathPara>
                  </a14:m>
                  <a:endParaRPr lang="en-AU" sz="3600" b="1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8CD51F33-64A5-5E81-E987-818DEB9166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1573" y="2005506"/>
                  <a:ext cx="982922" cy="64633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C9C6F4E-8071-0332-1595-458E72572B0E}"/>
                    </a:ext>
                  </a:extLst>
                </p:cNvPr>
                <p:cNvSpPr txBox="1"/>
                <p:nvPr/>
              </p:nvSpPr>
              <p:spPr>
                <a:xfrm>
                  <a:off x="8262122" y="3882997"/>
                  <a:ext cx="575035" cy="6463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3600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</m:oMath>
                    </m:oMathPara>
                  </a14:m>
                  <a:endParaRPr lang="en-AU" sz="3600" b="1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C9C6F4E-8071-0332-1595-458E72572B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62122" y="3882997"/>
                  <a:ext cx="575035" cy="64633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360253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67D53-ACE9-924B-F58A-EA423748D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PCTAR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E87B707-89BB-7622-2295-4DBC507C75C2}"/>
              </a:ext>
            </a:extLst>
          </p:cNvPr>
          <p:cNvGrpSpPr/>
          <p:nvPr/>
        </p:nvGrpSpPr>
        <p:grpSpPr>
          <a:xfrm>
            <a:off x="3510793" y="2025298"/>
            <a:ext cx="5170413" cy="2523600"/>
            <a:chOff x="3666744" y="1926445"/>
            <a:chExt cx="5170413" cy="2724871"/>
          </a:xfrm>
        </p:grpSpPr>
        <p:pic>
          <p:nvPicPr>
            <p:cNvPr id="18" name="Picture 17" descr="A diagram of a line graph&#10;&#10;Description automatically generated">
              <a:extLst>
                <a:ext uri="{FF2B5EF4-FFF2-40B4-BE49-F238E27FC236}">
                  <a16:creationId xmlns:a16="http://schemas.microsoft.com/office/drawing/2014/main" id="{293C70AB-6BF9-51ED-C6DC-8A5836635A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66744" y="2240280"/>
              <a:ext cx="4858512" cy="237744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18FA8F62-D875-1ADF-B07F-D2BB81B16315}"/>
                    </a:ext>
                  </a:extLst>
                </p:cNvPr>
                <p:cNvSpPr txBox="1"/>
                <p:nvPr/>
              </p:nvSpPr>
              <p:spPr>
                <a:xfrm>
                  <a:off x="5521573" y="1926445"/>
                  <a:ext cx="982922" cy="6463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3600" b="1" i="1" smtClean="0">
                            <a:latin typeface="Cambria Math" panose="02040503050406030204" pitchFamily="18" charset="0"/>
                          </a:rPr>
                          <m:t>𝝈</m:t>
                        </m:r>
                        <m:d>
                          <m:dPr>
                            <m:ctrlPr>
                              <a:rPr lang="en-AU" sz="36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3600" b="1" i="1" smtClean="0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</m:d>
                      </m:oMath>
                    </m:oMathPara>
                  </a14:m>
                  <a:endParaRPr lang="en-AU" sz="3600" b="1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18FA8F62-D875-1ADF-B07F-D2BB81B163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1573" y="1926445"/>
                  <a:ext cx="982922" cy="64633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F981C5D-EF8E-1375-4902-8B1281181CF7}"/>
                    </a:ext>
                  </a:extLst>
                </p:cNvPr>
                <p:cNvSpPr txBox="1"/>
                <p:nvPr/>
              </p:nvSpPr>
              <p:spPr>
                <a:xfrm>
                  <a:off x="8262122" y="3824005"/>
                  <a:ext cx="575035" cy="6463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3600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</m:oMath>
                    </m:oMathPara>
                  </a14:m>
                  <a:endParaRPr lang="en-AU" sz="3600" b="1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F981C5D-EF8E-1375-4902-8B1281181C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62122" y="3824005"/>
                  <a:ext cx="575035" cy="64633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BA92365-63F2-8510-B9F0-061772D378E3}"/>
                </a:ext>
              </a:extLst>
            </p:cNvPr>
            <p:cNvSpPr txBox="1"/>
            <p:nvPr/>
          </p:nvSpPr>
          <p:spPr>
            <a:xfrm>
              <a:off x="4392993" y="4189651"/>
              <a:ext cx="759957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2400" b="1" dirty="0"/>
                <a:t>LB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7D4A6B5-67DA-E686-7290-EFBEF81A916F}"/>
                </a:ext>
              </a:extLst>
            </p:cNvPr>
            <p:cNvSpPr txBox="1"/>
            <p:nvPr/>
          </p:nvSpPr>
          <p:spPr>
            <a:xfrm>
              <a:off x="6746505" y="4180224"/>
              <a:ext cx="801329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2400" b="1" dirty="0"/>
                <a:t>UB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15544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F4E09-0BCC-4192-956B-8E24FA3C7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412" y="223123"/>
            <a:ext cx="10515600" cy="1325563"/>
          </a:xfrm>
        </p:spPr>
        <p:txBody>
          <a:bodyPr/>
          <a:lstStyle/>
          <a:p>
            <a:r>
              <a:rPr lang="en-AU" dirty="0"/>
              <a:t>ICNN</a:t>
            </a: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1DE67950-5E89-46B6-BBC3-A31CB5FD3D32}"/>
              </a:ext>
            </a:extLst>
          </p:cNvPr>
          <p:cNvGrpSpPr>
            <a:grpSpLocks noChangeAspect="1"/>
          </p:cNvGrpSpPr>
          <p:nvPr/>
        </p:nvGrpSpPr>
        <p:grpSpPr>
          <a:xfrm>
            <a:off x="823412" y="1659551"/>
            <a:ext cx="10497051" cy="4075194"/>
            <a:chOff x="838200" y="2098036"/>
            <a:chExt cx="10497051" cy="4075194"/>
          </a:xfrm>
        </p:grpSpPr>
        <p:cxnSp>
          <p:nvCxnSpPr>
            <p:cNvPr id="33" name="Connector: Elbow 32">
              <a:extLst>
                <a:ext uri="{FF2B5EF4-FFF2-40B4-BE49-F238E27FC236}">
                  <a16:creationId xmlns:a16="http://schemas.microsoft.com/office/drawing/2014/main" id="{116D749E-A15F-4A76-8718-9231007364ED}"/>
                </a:ext>
              </a:extLst>
            </p:cNvPr>
            <p:cNvCxnSpPr>
              <a:cxnSpLocks/>
              <a:stCxn id="4" idx="2"/>
              <a:endCxn id="10" idx="2"/>
            </p:cNvCxnSpPr>
            <p:nvPr/>
          </p:nvCxnSpPr>
          <p:spPr>
            <a:xfrm rot="16200000" flipH="1">
              <a:off x="2568180" y="1635333"/>
              <a:ext cx="12700" cy="2880360"/>
            </a:xfrm>
            <a:prstGeom prst="bentConnector3">
              <a:avLst>
                <a:gd name="adj1" fmla="val 2950000"/>
              </a:avLst>
            </a:prstGeom>
            <a:ln w="38100">
              <a:solidFill>
                <a:schemeClr val="accent3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: Elbow 34">
              <a:extLst>
                <a:ext uri="{FF2B5EF4-FFF2-40B4-BE49-F238E27FC236}">
                  <a16:creationId xmlns:a16="http://schemas.microsoft.com/office/drawing/2014/main" id="{9685257F-CADB-4403-BB47-0C6C73207680}"/>
                </a:ext>
              </a:extLst>
            </p:cNvPr>
            <p:cNvCxnSpPr>
              <a:cxnSpLocks/>
              <a:stCxn id="4" idx="2"/>
              <a:endCxn id="8" idx="2"/>
            </p:cNvCxnSpPr>
            <p:nvPr/>
          </p:nvCxnSpPr>
          <p:spPr>
            <a:xfrm rot="16200000" flipH="1">
              <a:off x="4272400" y="-68887"/>
              <a:ext cx="12700" cy="6288800"/>
            </a:xfrm>
            <a:prstGeom prst="bentConnector3">
              <a:avLst>
                <a:gd name="adj1" fmla="val 12216669"/>
              </a:avLst>
            </a:prstGeom>
            <a:ln w="38100">
              <a:solidFill>
                <a:schemeClr val="accent3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or: Elbow 39">
              <a:extLst>
                <a:ext uri="{FF2B5EF4-FFF2-40B4-BE49-F238E27FC236}">
                  <a16:creationId xmlns:a16="http://schemas.microsoft.com/office/drawing/2014/main" id="{438D2190-AD81-4137-A519-C3E593CBFFE4}"/>
                </a:ext>
              </a:extLst>
            </p:cNvPr>
            <p:cNvCxnSpPr>
              <a:cxnSpLocks/>
              <a:stCxn id="4" idx="2"/>
              <a:endCxn id="9" idx="2"/>
            </p:cNvCxnSpPr>
            <p:nvPr/>
          </p:nvCxnSpPr>
          <p:spPr>
            <a:xfrm rot="16200000" flipH="1">
              <a:off x="5085320" y="-881807"/>
              <a:ext cx="12700" cy="7914640"/>
            </a:xfrm>
            <a:prstGeom prst="bentConnector3">
              <a:avLst>
                <a:gd name="adj1" fmla="val 16000000"/>
              </a:avLst>
            </a:prstGeom>
            <a:ln w="38100">
              <a:solidFill>
                <a:schemeClr val="accent3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Rectangle: Rounded Corners 3">
                  <a:extLst>
                    <a:ext uri="{FF2B5EF4-FFF2-40B4-BE49-F238E27FC236}">
                      <a16:creationId xmlns:a16="http://schemas.microsoft.com/office/drawing/2014/main" id="{4E646DF9-65C0-4D43-8494-D2C704E65AA1}"/>
                    </a:ext>
                  </a:extLst>
                </p:cNvPr>
                <p:cNvSpPr/>
                <p:nvPr/>
              </p:nvSpPr>
              <p:spPr>
                <a:xfrm>
                  <a:off x="838200" y="2100153"/>
                  <a:ext cx="579600" cy="975360"/>
                </a:xfrm>
                <a:prstGeom prst="roundRect">
                  <a:avLst/>
                </a:prstGeom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AU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</m:oMath>
                    </m:oMathPara>
                  </a14:m>
                  <a:endParaRPr lang="en-AU" b="1" dirty="0"/>
                </a:p>
              </p:txBody>
            </p:sp>
          </mc:Choice>
          <mc:Fallback>
            <p:sp>
              <p:nvSpPr>
                <p:cNvPr id="4" name="Rectangle: Rounded Corners 3">
                  <a:extLst>
                    <a:ext uri="{FF2B5EF4-FFF2-40B4-BE49-F238E27FC236}">
                      <a16:creationId xmlns:a16="http://schemas.microsoft.com/office/drawing/2014/main" id="{4E646DF9-65C0-4D43-8494-D2C704E65AA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200" y="2100153"/>
                  <a:ext cx="579600" cy="975360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accent6"/>
                  </a:solidFill>
                </a:ln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Rectangle: Rounded Corners 6">
                  <a:extLst>
                    <a:ext uri="{FF2B5EF4-FFF2-40B4-BE49-F238E27FC236}">
                      <a16:creationId xmlns:a16="http://schemas.microsoft.com/office/drawing/2014/main" id="{1E7E1ABB-B38A-436C-A066-F9DA35F5C7E0}"/>
                    </a:ext>
                  </a:extLst>
                </p:cNvPr>
                <p:cNvSpPr/>
                <p:nvPr/>
              </p:nvSpPr>
              <p:spPr>
                <a:xfrm>
                  <a:off x="2341880" y="2100153"/>
                  <a:ext cx="579600" cy="975360"/>
                </a:xfrm>
                <a:prstGeom prst="roundRect">
                  <a:avLst/>
                </a:prstGeom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AU" b="1" dirty="0"/>
                </a:p>
              </p:txBody>
            </p:sp>
          </mc:Choice>
          <mc:Fallback>
            <p:sp>
              <p:nvSpPr>
                <p:cNvPr id="7" name="Rectangle: Rounded Corners 6">
                  <a:extLst>
                    <a:ext uri="{FF2B5EF4-FFF2-40B4-BE49-F238E27FC236}">
                      <a16:creationId xmlns:a16="http://schemas.microsoft.com/office/drawing/2014/main" id="{1E7E1ABB-B38A-436C-A066-F9DA35F5C7E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1880" y="2100153"/>
                  <a:ext cx="579600" cy="975360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accent5"/>
                  </a:solidFill>
                </a:ln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Rectangle: Rounded Corners 7">
                  <a:extLst>
                    <a:ext uri="{FF2B5EF4-FFF2-40B4-BE49-F238E27FC236}">
                      <a16:creationId xmlns:a16="http://schemas.microsoft.com/office/drawing/2014/main" id="{E901FAA9-7154-46CA-9993-1EB7B296F57D}"/>
                    </a:ext>
                  </a:extLst>
                </p:cNvPr>
                <p:cNvSpPr/>
                <p:nvPr/>
              </p:nvSpPr>
              <p:spPr>
                <a:xfrm>
                  <a:off x="7127240" y="2100153"/>
                  <a:ext cx="579120" cy="975360"/>
                </a:xfrm>
                <a:prstGeom prst="roundRect">
                  <a:avLst/>
                </a:prstGeom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𝑳</m:t>
                            </m:r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AU" b="1" dirty="0"/>
                </a:p>
              </p:txBody>
            </p:sp>
          </mc:Choice>
          <mc:Fallback>
            <p:sp>
              <p:nvSpPr>
                <p:cNvPr id="8" name="Rectangle: Rounded Corners 7">
                  <a:extLst>
                    <a:ext uri="{FF2B5EF4-FFF2-40B4-BE49-F238E27FC236}">
                      <a16:creationId xmlns:a16="http://schemas.microsoft.com/office/drawing/2014/main" id="{E901FAA9-7154-46CA-9993-1EB7B296F57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7240" y="2100153"/>
                  <a:ext cx="579120" cy="975360"/>
                </a:xfrm>
                <a:prstGeom prst="roundRect">
                  <a:avLst/>
                </a:prstGeom>
                <a:blipFill>
                  <a:blip r:embed="rId5"/>
                  <a:stretch>
                    <a:fillRect l="-9184"/>
                  </a:stretch>
                </a:blipFill>
                <a:ln>
                  <a:solidFill>
                    <a:schemeClr val="accent5"/>
                  </a:solidFill>
                </a:ln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Rectangle: Rounded Corners 8">
                  <a:extLst>
                    <a:ext uri="{FF2B5EF4-FFF2-40B4-BE49-F238E27FC236}">
                      <a16:creationId xmlns:a16="http://schemas.microsoft.com/office/drawing/2014/main" id="{92C76CF8-233D-4BF7-9FEE-ACDA54D3545C}"/>
                    </a:ext>
                  </a:extLst>
                </p:cNvPr>
                <p:cNvSpPr/>
                <p:nvPr/>
              </p:nvSpPr>
              <p:spPr>
                <a:xfrm>
                  <a:off x="8752840" y="2100153"/>
                  <a:ext cx="579600" cy="975360"/>
                </a:xfrm>
                <a:prstGeom prst="roundRect">
                  <a:avLst/>
                </a:prstGeom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𝑳</m:t>
                            </m:r>
                          </m:sub>
                        </m:sSub>
                      </m:oMath>
                    </m:oMathPara>
                  </a14:m>
                  <a:endParaRPr lang="en-AU" b="1" dirty="0"/>
                </a:p>
              </p:txBody>
            </p:sp>
          </mc:Choice>
          <mc:Fallback>
            <p:sp>
              <p:nvSpPr>
                <p:cNvPr id="9" name="Rectangle: Rounded Corners 8">
                  <a:extLst>
                    <a:ext uri="{FF2B5EF4-FFF2-40B4-BE49-F238E27FC236}">
                      <a16:creationId xmlns:a16="http://schemas.microsoft.com/office/drawing/2014/main" id="{92C76CF8-233D-4BF7-9FEE-ACDA54D3545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52840" y="2100153"/>
                  <a:ext cx="579600" cy="975360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accent5"/>
                  </a:solidFill>
                </a:ln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Rectangle: Rounded Corners 9">
                  <a:extLst>
                    <a:ext uri="{FF2B5EF4-FFF2-40B4-BE49-F238E27FC236}">
                      <a16:creationId xmlns:a16="http://schemas.microsoft.com/office/drawing/2014/main" id="{E899ACE7-6ED8-4956-8127-DC77551DD467}"/>
                    </a:ext>
                  </a:extLst>
                </p:cNvPr>
                <p:cNvSpPr/>
                <p:nvPr/>
              </p:nvSpPr>
              <p:spPr>
                <a:xfrm>
                  <a:off x="3718560" y="2100153"/>
                  <a:ext cx="579600" cy="975360"/>
                </a:xfrm>
                <a:prstGeom prst="roundRect">
                  <a:avLst/>
                </a:prstGeom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AU" b="1" dirty="0"/>
                </a:p>
              </p:txBody>
            </p:sp>
          </mc:Choice>
          <mc:Fallback>
            <p:sp>
              <p:nvSpPr>
                <p:cNvPr id="10" name="Rectangle: Rounded Corners 9">
                  <a:extLst>
                    <a:ext uri="{FF2B5EF4-FFF2-40B4-BE49-F238E27FC236}">
                      <a16:creationId xmlns:a16="http://schemas.microsoft.com/office/drawing/2014/main" id="{E899ACE7-6ED8-4956-8127-DC77551DD46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8560" y="2100153"/>
                  <a:ext cx="579600" cy="975360"/>
                </a:xfrm>
                <a:prstGeom prst="round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accent5"/>
                  </a:solidFill>
                </a:ln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48FEE82E-F560-46ED-BE41-AD258CDAA67F}"/>
                </a:ext>
              </a:extLst>
            </p:cNvPr>
            <p:cNvCxnSpPr>
              <a:stCxn id="4" idx="3"/>
              <a:endCxn id="7" idx="1"/>
            </p:cNvCxnSpPr>
            <p:nvPr/>
          </p:nvCxnSpPr>
          <p:spPr>
            <a:xfrm>
              <a:off x="1417800" y="2587833"/>
              <a:ext cx="924080" cy="0"/>
            </a:xfrm>
            <a:prstGeom prst="straightConnector1">
              <a:avLst/>
            </a:prstGeom>
            <a:ln w="38100">
              <a:solidFill>
                <a:schemeClr val="accent3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A8FAE6C9-AE0C-48BE-839D-36B246C7A336}"/>
                </a:ext>
              </a:extLst>
            </p:cNvPr>
            <p:cNvCxnSpPr>
              <a:stCxn id="7" idx="3"/>
              <a:endCxn id="10" idx="1"/>
            </p:cNvCxnSpPr>
            <p:nvPr/>
          </p:nvCxnSpPr>
          <p:spPr>
            <a:xfrm>
              <a:off x="2921480" y="2587833"/>
              <a:ext cx="797080" cy="0"/>
            </a:xfrm>
            <a:prstGeom prst="straightConnector1">
              <a:avLst/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B081A37E-A97E-4B53-B7BA-7EC1B45424FD}"/>
                </a:ext>
              </a:extLst>
            </p:cNvPr>
            <p:cNvCxnSpPr>
              <a:stCxn id="8" idx="3"/>
              <a:endCxn id="9" idx="1"/>
            </p:cNvCxnSpPr>
            <p:nvPr/>
          </p:nvCxnSpPr>
          <p:spPr>
            <a:xfrm>
              <a:off x="7706360" y="2587833"/>
              <a:ext cx="1046480" cy="0"/>
            </a:xfrm>
            <a:prstGeom prst="straightConnector1">
              <a:avLst/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712D627A-C27D-4FD8-940A-283F157A7ACC}"/>
                </a:ext>
              </a:extLst>
            </p:cNvPr>
            <p:cNvCxnSpPr>
              <a:stCxn id="10" idx="3"/>
            </p:cNvCxnSpPr>
            <p:nvPr/>
          </p:nvCxnSpPr>
          <p:spPr>
            <a:xfrm>
              <a:off x="4298160" y="2587833"/>
              <a:ext cx="793510" cy="0"/>
            </a:xfrm>
            <a:prstGeom prst="straightConnector1">
              <a:avLst/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339F786D-6BBC-4EF7-8C8A-4C5828E43926}"/>
                </a:ext>
              </a:extLst>
            </p:cNvPr>
            <p:cNvCxnSpPr>
              <a:cxnSpLocks/>
              <a:endCxn id="8" idx="1"/>
            </p:cNvCxnSpPr>
            <p:nvPr/>
          </p:nvCxnSpPr>
          <p:spPr>
            <a:xfrm>
              <a:off x="6360160" y="2587833"/>
              <a:ext cx="767080" cy="0"/>
            </a:xfrm>
            <a:prstGeom prst="straightConnector1">
              <a:avLst/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7489CE08-D4CB-4A01-BBB6-164017F57898}"/>
                    </a:ext>
                  </a:extLst>
                </p:cNvPr>
                <p:cNvSpPr txBox="1"/>
                <p:nvPr/>
              </p:nvSpPr>
              <p:spPr>
                <a:xfrm>
                  <a:off x="4940117" y="2268864"/>
                  <a:ext cx="1430867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AU" b="1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en-AU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7489CE08-D4CB-4A01-BBB6-164017F578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0117" y="2268864"/>
                  <a:ext cx="14308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3" name="Rectangle: Rounded Corners 82">
                  <a:extLst>
                    <a:ext uri="{FF2B5EF4-FFF2-40B4-BE49-F238E27FC236}">
                      <a16:creationId xmlns:a16="http://schemas.microsoft.com/office/drawing/2014/main" id="{6EE1EDDD-FBAA-40FB-A281-BC558A563A9B}"/>
                    </a:ext>
                  </a:extLst>
                </p:cNvPr>
                <p:cNvSpPr/>
                <p:nvPr/>
              </p:nvSpPr>
              <p:spPr>
                <a:xfrm>
                  <a:off x="10378920" y="2098036"/>
                  <a:ext cx="579600" cy="975360"/>
                </a:xfrm>
                <a:prstGeom prst="round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AU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oMath>
                    </m:oMathPara>
                  </a14:m>
                  <a:endParaRPr lang="en-AU" b="1" dirty="0"/>
                </a:p>
              </p:txBody>
            </p:sp>
          </mc:Choice>
          <mc:Fallback>
            <p:sp>
              <p:nvSpPr>
                <p:cNvPr id="83" name="Rectangle: Rounded Corners 82">
                  <a:extLst>
                    <a:ext uri="{FF2B5EF4-FFF2-40B4-BE49-F238E27FC236}">
                      <a16:creationId xmlns:a16="http://schemas.microsoft.com/office/drawing/2014/main" id="{6EE1EDDD-FBAA-40FB-A281-BC558A563A9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78920" y="2098036"/>
                  <a:ext cx="579600" cy="975360"/>
                </a:xfrm>
                <a:prstGeom prst="round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81316CA6-55C8-4D6B-BFDE-ABB393F2B754}"/>
                </a:ext>
              </a:extLst>
            </p:cNvPr>
            <p:cNvCxnSpPr>
              <a:stCxn id="9" idx="3"/>
              <a:endCxn id="83" idx="1"/>
            </p:cNvCxnSpPr>
            <p:nvPr/>
          </p:nvCxnSpPr>
          <p:spPr>
            <a:xfrm flipV="1">
              <a:off x="9332440" y="2585716"/>
              <a:ext cx="1046480" cy="2117"/>
            </a:xfrm>
            <a:prstGeom prst="straightConnector1">
              <a:avLst/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or: Elbow 88">
              <a:extLst>
                <a:ext uri="{FF2B5EF4-FFF2-40B4-BE49-F238E27FC236}">
                  <a16:creationId xmlns:a16="http://schemas.microsoft.com/office/drawing/2014/main" id="{995133A3-A13F-45F5-B6AB-86DD7E6078D8}"/>
                </a:ext>
              </a:extLst>
            </p:cNvPr>
            <p:cNvCxnSpPr>
              <a:cxnSpLocks/>
              <a:stCxn id="4" idx="2"/>
              <a:endCxn id="83" idx="2"/>
            </p:cNvCxnSpPr>
            <p:nvPr/>
          </p:nvCxnSpPr>
          <p:spPr>
            <a:xfrm rot="5400000" flipH="1" flipV="1">
              <a:off x="5897301" y="-1695905"/>
              <a:ext cx="2117" cy="9540720"/>
            </a:xfrm>
            <a:prstGeom prst="bentConnector3">
              <a:avLst>
                <a:gd name="adj1" fmla="val -119981389"/>
              </a:avLst>
            </a:prstGeom>
            <a:ln w="38100">
              <a:solidFill>
                <a:schemeClr val="accent3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5D8D28C8-67D2-4A4A-B249-B7BE3F1F4CFE}"/>
                </a:ext>
              </a:extLst>
            </p:cNvPr>
            <p:cNvCxnSpPr/>
            <p:nvPr/>
          </p:nvCxnSpPr>
          <p:spPr>
            <a:xfrm>
              <a:off x="1127999" y="6019798"/>
              <a:ext cx="635240" cy="0"/>
            </a:xfrm>
            <a:prstGeom prst="straightConnector1">
              <a:avLst/>
            </a:prstGeom>
            <a:ln w="38100">
              <a:solidFill>
                <a:schemeClr val="accent3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22E22D75-E905-4C3C-A134-B560F32D1D2D}"/>
                </a:ext>
              </a:extLst>
            </p:cNvPr>
            <p:cNvCxnSpPr/>
            <p:nvPr/>
          </p:nvCxnSpPr>
          <p:spPr>
            <a:xfrm>
              <a:off x="6220703" y="6019798"/>
              <a:ext cx="637200" cy="0"/>
            </a:xfrm>
            <a:prstGeom prst="straightConnector1">
              <a:avLst/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CA1A7250-2A28-48CE-B778-40B03097DAFC}"/>
                </a:ext>
              </a:extLst>
            </p:cNvPr>
            <p:cNvSpPr txBox="1"/>
            <p:nvPr/>
          </p:nvSpPr>
          <p:spPr>
            <a:xfrm>
              <a:off x="1772738" y="5803898"/>
              <a:ext cx="44587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 feedforward path, unrestricted weights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B343D492-AF52-489F-85C7-C13EE063E4B0}"/>
                </a:ext>
              </a:extLst>
            </p:cNvPr>
            <p:cNvSpPr txBox="1"/>
            <p:nvPr/>
          </p:nvSpPr>
          <p:spPr>
            <a:xfrm>
              <a:off x="6876521" y="5803898"/>
              <a:ext cx="44587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Hidden layer path, non-negative weights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E29794B9-A4AB-4D6E-B725-D898C223D322}"/>
                    </a:ext>
                  </a:extLst>
                </p:cNvPr>
                <p:cNvSpPr txBox="1"/>
                <p:nvPr/>
              </p:nvSpPr>
              <p:spPr>
                <a:xfrm>
                  <a:off x="1583267" y="2098036"/>
                  <a:ext cx="579120" cy="4507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AU" b="1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𝒛</m:t>
                            </m:r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en-AU" b="1" dirty="0"/>
                </a:p>
              </p:txBody>
            </p:sp>
          </mc:Choice>
          <mc:Fallback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E29794B9-A4AB-4D6E-B725-D898C223D3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3267" y="2098036"/>
                  <a:ext cx="579120" cy="450764"/>
                </a:xfrm>
                <a:prstGeom prst="rect">
                  <a:avLst/>
                </a:prstGeom>
                <a:blipFill>
                  <a:blip r:embed="rId10"/>
                  <a:stretch>
                    <a:fillRect r="-9474" b="-1351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3BD79169-FBB5-4559-A537-8F2B2FC69F96}"/>
                    </a:ext>
                  </a:extLst>
                </p:cNvPr>
                <p:cNvSpPr txBox="1"/>
                <p:nvPr/>
              </p:nvSpPr>
              <p:spPr>
                <a:xfrm>
                  <a:off x="1614685" y="3004921"/>
                  <a:ext cx="579120" cy="4507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AU" b="1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  <m:sup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𝒛</m:t>
                            </m:r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en-AU" b="1" dirty="0"/>
                </a:p>
              </p:txBody>
            </p:sp>
          </mc:Choice>
          <mc:Fallback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3BD79169-FBB5-4559-A537-8F2B2FC69F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14685" y="3004921"/>
                  <a:ext cx="579120" cy="450764"/>
                </a:xfrm>
                <a:prstGeom prst="rect">
                  <a:avLst/>
                </a:prstGeom>
                <a:blipFill>
                  <a:blip r:embed="rId11"/>
                  <a:stretch>
                    <a:fillRect r="-9474" b="-1351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D4BA5F19-31AD-43E3-A731-529B1DE6EC5F}"/>
                    </a:ext>
                  </a:extLst>
                </p:cNvPr>
                <p:cNvSpPr txBox="1"/>
                <p:nvPr/>
              </p:nvSpPr>
              <p:spPr>
                <a:xfrm>
                  <a:off x="1614685" y="4165856"/>
                  <a:ext cx="579120" cy="4507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AU" b="1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𝑳</m:t>
                            </m:r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𝒛</m:t>
                            </m:r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en-AU" b="1" dirty="0"/>
                </a:p>
              </p:txBody>
            </p:sp>
          </mc:Choice>
          <mc:Fallback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D4BA5F19-31AD-43E3-A731-529B1DE6EC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14685" y="4165856"/>
                  <a:ext cx="579120" cy="450764"/>
                </a:xfrm>
                <a:prstGeom prst="rect">
                  <a:avLst/>
                </a:prstGeom>
                <a:blipFill>
                  <a:blip r:embed="rId12"/>
                  <a:stretch>
                    <a:fillRect r="-21053" b="-1351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A3901EAD-FC60-4D67-87E9-DB96DCB6D2D6}"/>
                    </a:ext>
                  </a:extLst>
                </p:cNvPr>
                <p:cNvSpPr txBox="1"/>
                <p:nvPr/>
              </p:nvSpPr>
              <p:spPr>
                <a:xfrm>
                  <a:off x="1614685" y="4616665"/>
                  <a:ext cx="579120" cy="4507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AU" b="1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𝑳</m:t>
                            </m:r>
                          </m:sub>
                          <m:sup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𝒛</m:t>
                            </m:r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en-AU" b="1" dirty="0"/>
                </a:p>
              </p:txBody>
            </p:sp>
          </mc:Choice>
          <mc:Fallback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A3901EAD-FC60-4D67-87E9-DB96DCB6D2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14685" y="4616665"/>
                  <a:ext cx="579120" cy="450764"/>
                </a:xfrm>
                <a:prstGeom prst="rect">
                  <a:avLst/>
                </a:prstGeom>
                <a:blipFill>
                  <a:blip r:embed="rId13"/>
                  <a:stretch>
                    <a:fillRect r="-9474" b="-1351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0ED92E49-F362-48F3-B53A-044D71BF0CB3}"/>
                    </a:ext>
                  </a:extLst>
                </p:cNvPr>
                <p:cNvSpPr txBox="1"/>
                <p:nvPr/>
              </p:nvSpPr>
              <p:spPr>
                <a:xfrm>
                  <a:off x="1643472" y="5108724"/>
                  <a:ext cx="579120" cy="4507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AU" b="1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𝑳</m:t>
                            </m:r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𝒛</m:t>
                            </m:r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en-AU" b="1" dirty="0"/>
                </a:p>
              </p:txBody>
            </p:sp>
          </mc:Choice>
          <mc:Fallback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0ED92E49-F362-48F3-B53A-044D71BF0C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3472" y="5108724"/>
                  <a:ext cx="579120" cy="450764"/>
                </a:xfrm>
                <a:prstGeom prst="rect">
                  <a:avLst/>
                </a:prstGeom>
                <a:blipFill>
                  <a:blip r:embed="rId14"/>
                  <a:stretch>
                    <a:fillRect r="-21053" b="-1351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409B6A86-A4DB-44BF-BD93-0DCDDF146A1C}"/>
                    </a:ext>
                  </a:extLst>
                </p:cNvPr>
                <p:cNvSpPr txBox="1"/>
                <p:nvPr/>
              </p:nvSpPr>
              <p:spPr>
                <a:xfrm>
                  <a:off x="3022840" y="2150235"/>
                  <a:ext cx="57912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AU" b="1" dirty="0"/>
                </a:p>
              </p:txBody>
            </p:sp>
          </mc:Choice>
          <mc:Fallback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409B6A86-A4DB-44BF-BD93-0DCDDF146A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22840" y="2150235"/>
                  <a:ext cx="579120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65499E8A-DC49-4F3A-B9D7-F2BA4485A618}"/>
                    </a:ext>
                  </a:extLst>
                </p:cNvPr>
                <p:cNvSpPr txBox="1"/>
                <p:nvPr/>
              </p:nvSpPr>
              <p:spPr>
                <a:xfrm>
                  <a:off x="4376420" y="2142633"/>
                  <a:ext cx="57912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AU" b="1" dirty="0"/>
                </a:p>
              </p:txBody>
            </p:sp>
          </mc:Choice>
          <mc:Fallback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65499E8A-DC49-4F3A-B9D7-F2BA4485A6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76420" y="2142633"/>
                  <a:ext cx="579120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332011D1-8311-4575-9E2D-C698EEB5559E}"/>
                    </a:ext>
                  </a:extLst>
                </p:cNvPr>
                <p:cNvSpPr txBox="1"/>
                <p:nvPr/>
              </p:nvSpPr>
              <p:spPr>
                <a:xfrm>
                  <a:off x="6312502" y="2122307"/>
                  <a:ext cx="57912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𝑳</m:t>
                            </m:r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AU" b="1" dirty="0"/>
                </a:p>
              </p:txBody>
            </p:sp>
          </mc:Choice>
          <mc:Fallback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332011D1-8311-4575-9E2D-C698EEB555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2502" y="2122307"/>
                  <a:ext cx="579120" cy="369332"/>
                </a:xfrm>
                <a:prstGeom prst="rect">
                  <a:avLst/>
                </a:prstGeom>
                <a:blipFill>
                  <a:blip r:embed="rId17"/>
                  <a:stretch>
                    <a:fillRect r="-21053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AB0027C5-D5B7-48D9-963B-F33430C9867D}"/>
                    </a:ext>
                  </a:extLst>
                </p:cNvPr>
                <p:cNvSpPr txBox="1"/>
                <p:nvPr/>
              </p:nvSpPr>
              <p:spPr>
                <a:xfrm>
                  <a:off x="7938102" y="2124996"/>
                  <a:ext cx="57912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𝑳</m:t>
                            </m:r>
                          </m:sub>
                        </m:sSub>
                      </m:oMath>
                    </m:oMathPara>
                  </a14:m>
                  <a:endParaRPr lang="en-AU" b="1" dirty="0"/>
                </a:p>
              </p:txBody>
            </p:sp>
          </mc:Choice>
          <mc:Fallback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AB0027C5-D5B7-48D9-963B-F33430C986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38102" y="2124996"/>
                  <a:ext cx="579120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039AB3B6-1F13-4253-8934-2CCDA629C124}"/>
                    </a:ext>
                  </a:extLst>
                </p:cNvPr>
                <p:cNvSpPr txBox="1"/>
                <p:nvPr/>
              </p:nvSpPr>
              <p:spPr>
                <a:xfrm>
                  <a:off x="9560560" y="2098036"/>
                  <a:ext cx="57912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𝑳</m:t>
                            </m:r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AU" b="1" dirty="0"/>
                </a:p>
              </p:txBody>
            </p:sp>
          </mc:Choice>
          <mc:Fallback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039AB3B6-1F13-4253-8934-2CCDA629C1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60560" y="2098036"/>
                  <a:ext cx="579120" cy="369332"/>
                </a:xfrm>
                <a:prstGeom prst="rect">
                  <a:avLst/>
                </a:prstGeom>
                <a:blipFill>
                  <a:blip r:embed="rId19"/>
                  <a:stretch>
                    <a:fillRect r="-21053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0" name="Connector: Elbow 119">
              <a:extLst>
                <a:ext uri="{FF2B5EF4-FFF2-40B4-BE49-F238E27FC236}">
                  <a16:creationId xmlns:a16="http://schemas.microsoft.com/office/drawing/2014/main" id="{E9DE863C-BC71-49F4-A899-CBC8C5C61CE8}"/>
                </a:ext>
              </a:extLst>
            </p:cNvPr>
            <p:cNvCxnSpPr>
              <a:cxnSpLocks/>
              <a:stCxn id="4" idx="2"/>
            </p:cNvCxnSpPr>
            <p:nvPr/>
          </p:nvCxnSpPr>
          <p:spPr>
            <a:xfrm rot="16200000" flipH="1">
              <a:off x="2660242" y="1543270"/>
              <a:ext cx="872276" cy="3936761"/>
            </a:xfrm>
            <a:prstGeom prst="bentConnector2">
              <a:avLst/>
            </a:prstGeom>
            <a:ln w="38100">
              <a:solidFill>
                <a:schemeClr val="accent3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44723499-80CD-4B50-B4DA-5296CF54445B}"/>
                    </a:ext>
                  </a:extLst>
                </p:cNvPr>
                <p:cNvSpPr txBox="1"/>
                <p:nvPr/>
              </p:nvSpPr>
              <p:spPr>
                <a:xfrm>
                  <a:off x="3441001" y="4213149"/>
                  <a:ext cx="1430867" cy="646331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AU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⋮</m:t>
                        </m:r>
                      </m:oMath>
                    </m:oMathPara>
                  </a14:m>
                  <a:endParaRPr lang="en-AU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/>
                  <a:endParaRPr lang="en-AU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44723499-80CD-4B50-B4DA-5296CF5444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1001" y="4213149"/>
                  <a:ext cx="1430867" cy="646331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080EC784-AF42-4CAB-B263-21F889F623D0}"/>
                    </a:ext>
                  </a:extLst>
                </p:cNvPr>
                <p:cNvSpPr txBox="1"/>
                <p:nvPr/>
              </p:nvSpPr>
              <p:spPr>
                <a:xfrm>
                  <a:off x="1614685" y="3522043"/>
                  <a:ext cx="579120" cy="4507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AU" b="1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  <m:sup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𝒛</m:t>
                            </m:r>
                            <m:r>
                              <a:rPr lang="en-AU" b="1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en-AU" b="1" dirty="0"/>
                </a:p>
              </p:txBody>
            </p:sp>
          </mc:Choice>
          <mc:Fallback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080EC784-AF42-4CAB-B263-21F889F623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14685" y="3522043"/>
                  <a:ext cx="579120" cy="450764"/>
                </a:xfrm>
                <a:prstGeom prst="rect">
                  <a:avLst/>
                </a:prstGeom>
                <a:blipFill>
                  <a:blip r:embed="rId21"/>
                  <a:stretch>
                    <a:fillRect r="-9474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CAA91FC5-DDE5-47C6-8E93-2DF7FD305B6B}"/>
                    </a:ext>
                  </a:extLst>
                </p:cNvPr>
                <p:cNvSpPr txBox="1"/>
                <p:nvPr/>
              </p:nvSpPr>
              <p:spPr>
                <a:xfrm>
                  <a:off x="4940117" y="3610330"/>
                  <a:ext cx="1430867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AU" b="1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en-AU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CAA91FC5-DDE5-47C6-8E93-2DF7FD305B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0117" y="3610330"/>
                  <a:ext cx="1430867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862468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2286</TotalTime>
  <Words>60</Words>
  <Application>Microsoft Office PowerPoint</Application>
  <PresentationFormat>Widescreen</PresentationFormat>
  <Paragraphs>41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Cambria Math</vt:lpstr>
      <vt:lpstr>Times New Roman</vt:lpstr>
      <vt:lpstr>Office Theme</vt:lpstr>
      <vt:lpstr>Diagrams</vt:lpstr>
      <vt:lpstr>Aggregator BM</vt:lpstr>
      <vt:lpstr>PCAR</vt:lpstr>
      <vt:lpstr>PCTAR</vt:lpstr>
      <vt:lpstr>ICNN</vt:lpstr>
    </vt:vector>
  </TitlesOfParts>
  <Company>The University of Adelaide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Diagrams</dc:title>
  <dc:creator>Yogesh Pipada Sunil Kumar</dc:creator>
  <cp:lastModifiedBy>Yogesh Pipada Sunil Kumar</cp:lastModifiedBy>
  <cp:revision>13</cp:revision>
  <cp:lastPrinted>2026-03-02T18:22:45Z</cp:lastPrinted>
  <dcterms:created xsi:type="dcterms:W3CDTF">2024-11-04T23:21:58Z</dcterms:created>
  <dcterms:modified xsi:type="dcterms:W3CDTF">2026-03-02T19:38:01Z</dcterms:modified>
</cp:coreProperties>
</file>